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3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79F2DDD-858B-4C48-8312-BD252F341D8D}">
  <a:tblStyle styleId="{179F2DDD-858B-4C48-8312-BD252F341D8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Проектная работа/README.md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Шаблон защиты проекта OTUS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Фотография предоставлена автором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работа/Postman/Main/README.md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работа/Архитектура/C4/.structurizr/1/images/PlatformOverview-thumbnail-dark.png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работа/Архитектура/Sequence/Order Saga Success.md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работа/Архитектура/MS/AuthMs.md; Проектная работа/Архитектура/ApiGateway.md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работа/Архитектура/MS/CatalogMs.md; Проектная работа/K8s/README.md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работа/Postman/Observability/README.md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работа/Архитектура/README.md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Проектная работа/README.md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Шаблон защиты проекта OTUS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0;p2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ln>
            <a:noFill/>
          </a:ln>
        </p:spPr>
      </p:pic>
      <p:sp>
        <p:nvSpPr>
          <p:cNvPr id="11" name="Google Shape;11;p20">
            <a:extLst>
              <a:ext uri="{FF2B5EF4-FFF2-40B4-BE49-F238E27FC236}">
                <a16:creationId xmlns:a16="http://schemas.microsoft.com/office/drawing/2014/main" id="{D4ADFA8C-DC41-4C8E-A153-C328D12A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0">
            <a:extLst>
              <a:ext uri="{FF2B5EF4-FFF2-40B4-BE49-F238E27FC236}">
                <a16:creationId xmlns:a16="http://schemas.microsoft.com/office/drawing/2014/main" id="{57EC00AF-9910-438A-8609-A1B131C1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>
            <a:extLst>
              <a:ext uri="{FF2B5EF4-FFF2-40B4-BE49-F238E27FC236}">
                <a16:creationId xmlns:a16="http://schemas.microsoft.com/office/drawing/2014/main" id="{216C5C99-3817-42C7-8615-2FF3349A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1">
            <a:extLst>
              <a:ext uri="{FF2B5EF4-FFF2-40B4-BE49-F238E27FC236}">
                <a16:creationId xmlns:a16="http://schemas.microsoft.com/office/drawing/2014/main" id="{CB9E5947-E9FA-47E4-958B-2636B69C0A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>
            <a:extLst>
              <a:ext uri="{FF2B5EF4-FFF2-40B4-BE49-F238E27FC236}">
                <a16:creationId xmlns:a16="http://schemas.microsoft.com/office/drawing/2014/main" id="{57162D29-353E-4BC8-8F93-37EDB3D3D9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" name="Google Shape;18;p22">
            <a:extLst>
              <a:ext uri="{FF2B5EF4-FFF2-40B4-BE49-F238E27FC236}">
                <a16:creationId xmlns:a16="http://schemas.microsoft.com/office/drawing/2014/main" id="{6887BCED-7969-4A4C-84AE-3E4CF5E9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>
            <a:extLst>
              <a:ext uri="{FF2B5EF4-FFF2-40B4-BE49-F238E27FC236}">
                <a16:creationId xmlns:a16="http://schemas.microsoft.com/office/drawing/2014/main" id="{1781A09C-52A2-460A-B596-F9C7C3520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2">
            <a:extLst>
              <a:ext uri="{FF2B5EF4-FFF2-40B4-BE49-F238E27FC236}">
                <a16:creationId xmlns:a16="http://schemas.microsoft.com/office/drawing/2014/main" id="{FEB03243-50D2-49F1-AB44-BCFFA5853DD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2">
            <a:extLst>
              <a:ext uri="{FF2B5EF4-FFF2-40B4-BE49-F238E27FC236}">
                <a16:creationId xmlns:a16="http://schemas.microsoft.com/office/drawing/2014/main" id="{3A21E27E-6FB5-4F57-AA8B-47E6B660686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2">
            <a:extLst>
              <a:ext uri="{FF2B5EF4-FFF2-40B4-BE49-F238E27FC236}">
                <a16:creationId xmlns:a16="http://schemas.microsoft.com/office/drawing/2014/main" id="{DA746A45-87A6-46AC-9AE7-6A9A3C4C54A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>
            <a:extLst>
              <a:ext uri="{FF2B5EF4-FFF2-40B4-BE49-F238E27FC236}">
                <a16:creationId xmlns:a16="http://schemas.microsoft.com/office/drawing/2014/main" id="{E8EC2C8F-7DFB-4B75-A66E-72CEDCC23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>
            <a:extLst>
              <a:ext uri="{FF2B5EF4-FFF2-40B4-BE49-F238E27FC236}">
                <a16:creationId xmlns:a16="http://schemas.microsoft.com/office/drawing/2014/main" id="{CBBF8BBD-0272-47C0-BB1D-7F068AA6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>
            <a:extLst>
              <a:ext uri="{FF2B5EF4-FFF2-40B4-BE49-F238E27FC236}">
                <a16:creationId xmlns:a16="http://schemas.microsoft.com/office/drawing/2014/main" id="{6532C7D3-693F-42D6-A370-DFA9104D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8" name="Google Shape;28;p24">
            <a:extLst>
              <a:ext uri="{FF2B5EF4-FFF2-40B4-BE49-F238E27FC236}">
                <a16:creationId xmlns:a16="http://schemas.microsoft.com/office/drawing/2014/main" id="{D8C9B488-5B2D-48F7-8BF3-97311F59B4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>
            <a:extLst>
              <a:ext uri="{FF2B5EF4-FFF2-40B4-BE49-F238E27FC236}">
                <a16:creationId xmlns:a16="http://schemas.microsoft.com/office/drawing/2014/main" id="{382BEDB4-1599-4511-B7E2-D21A43C57A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5" name="Google Shape;31;p25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2" name="Google Shape;32;p25">
            <a:extLst>
              <a:ext uri="{FF2B5EF4-FFF2-40B4-BE49-F238E27FC236}">
                <a16:creationId xmlns:a16="http://schemas.microsoft.com/office/drawing/2014/main" id="{F3E3E7F5-22B5-46CA-8805-E8647656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>
            <a:extLst>
              <a:ext uri="{FF2B5EF4-FFF2-40B4-BE49-F238E27FC236}">
                <a16:creationId xmlns:a16="http://schemas.microsoft.com/office/drawing/2014/main" id="{AE7BFF5B-225C-4B30-AA1A-B6A69EBDBB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>
            <a:extLst>
              <a:ext uri="{FF2B5EF4-FFF2-40B4-BE49-F238E27FC236}">
                <a16:creationId xmlns:a16="http://schemas.microsoft.com/office/drawing/2014/main" id="{EE92A2AE-FBA7-4FB6-82DB-2C7C1FE6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>
            <a:extLst>
              <a:ext uri="{FF2B5EF4-FFF2-40B4-BE49-F238E27FC236}">
                <a16:creationId xmlns:a16="http://schemas.microsoft.com/office/drawing/2014/main" id="{BE14586F-3F08-4FD0-BA33-75C0B32D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>
            <a:extLst>
              <a:ext uri="{FF2B5EF4-FFF2-40B4-BE49-F238E27FC236}">
                <a16:creationId xmlns:a16="http://schemas.microsoft.com/office/drawing/2014/main" id="{293DF676-8D04-446E-B3A9-015AF6F43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8">
            <a:extLst>
              <a:ext uri="{FF2B5EF4-FFF2-40B4-BE49-F238E27FC236}">
                <a16:creationId xmlns:a16="http://schemas.microsoft.com/office/drawing/2014/main" id="{6F6E6546-B952-4ADE-AA5C-68BCC789CFA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>
            <a:extLst>
              <a:ext uri="{FF2B5EF4-FFF2-40B4-BE49-F238E27FC236}">
                <a16:creationId xmlns:a16="http://schemas.microsoft.com/office/drawing/2014/main" id="{D1CC9273-2B5E-47EC-A0FF-D18FA67B14F4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3" name="Google Shape;43;p29">
            <a:extLst>
              <a:ext uri="{FF2B5EF4-FFF2-40B4-BE49-F238E27FC236}">
                <a16:creationId xmlns:a16="http://schemas.microsoft.com/office/drawing/2014/main" id="{C7D5FDBB-1B49-40A4-8EE5-0A07979A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9">
            <a:extLst>
              <a:ext uri="{FF2B5EF4-FFF2-40B4-BE49-F238E27FC236}">
                <a16:creationId xmlns:a16="http://schemas.microsoft.com/office/drawing/2014/main" id="{5A43E59B-FBA1-429F-BD38-01F8DE946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5" name="Google Shape;45;p29">
            <a:extLst>
              <a:ext uri="{FF2B5EF4-FFF2-40B4-BE49-F238E27FC236}">
                <a16:creationId xmlns:a16="http://schemas.microsoft.com/office/drawing/2014/main" id="{1ADB0AE1-1D7A-4840-AC0C-55AD2F8028D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9">
            <a:extLst>
              <a:ext uri="{FF2B5EF4-FFF2-40B4-BE49-F238E27FC236}">
                <a16:creationId xmlns:a16="http://schemas.microsoft.com/office/drawing/2014/main" id="{7B4D6C2F-A8A6-4AE1-AA18-B4FF9444EC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>
            <a:extLst>
              <a:ext uri="{FF2B5EF4-FFF2-40B4-BE49-F238E27FC236}">
                <a16:creationId xmlns:a16="http://schemas.microsoft.com/office/drawing/2014/main" id="{EB1D52A3-041A-41EA-B926-8F838BB2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>
            <a:extLst>
              <a:ext uri="{FF2B5EF4-FFF2-40B4-BE49-F238E27FC236}">
                <a16:creationId xmlns:a16="http://schemas.microsoft.com/office/drawing/2014/main" id="{FD5D876B-54A7-4424-9BAB-1E34C27A319B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0" name="Google Shape;50;p30">
            <a:extLst>
              <a:ext uri="{FF2B5EF4-FFF2-40B4-BE49-F238E27FC236}">
                <a16:creationId xmlns:a16="http://schemas.microsoft.com/office/drawing/2014/main" id="{4411060E-8255-4202-A64D-435E06416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>
            <a:extLst>
              <a:ext uri="{FF2B5EF4-FFF2-40B4-BE49-F238E27FC236}">
                <a16:creationId xmlns:a16="http://schemas.microsoft.com/office/drawing/2014/main" id="{100E7A3E-0363-4771-B2F2-ABB25CD3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>
            <a:extLst>
              <a:ext uri="{FF2B5EF4-FFF2-40B4-BE49-F238E27FC236}">
                <a16:creationId xmlns:a16="http://schemas.microsoft.com/office/drawing/2014/main" id="{F16D539B-0230-4A69-A796-6AFC48DBF9D9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" name="Google Shape;54;p31">
            <a:extLst>
              <a:ext uri="{FF2B5EF4-FFF2-40B4-BE49-F238E27FC236}">
                <a16:creationId xmlns:a16="http://schemas.microsoft.com/office/drawing/2014/main" id="{5C1F176D-6C38-4D0E-902D-772C9AACA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>
            <a:extLst>
              <a:ext uri="{FF2B5EF4-FFF2-40B4-BE49-F238E27FC236}">
                <a16:creationId xmlns:a16="http://schemas.microsoft.com/office/drawing/2014/main" id="{87B1E6F8-4CEC-4193-ADF4-B07E6E3D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>
            <a:extLst>
              <a:ext uri="{FF2B5EF4-FFF2-40B4-BE49-F238E27FC236}">
                <a16:creationId xmlns:a16="http://schemas.microsoft.com/office/drawing/2014/main" id="{ED1F8D91-E6AE-4A94-8A0D-DBBC7C33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2">
            <a:extLst>
              <a:ext uri="{FF2B5EF4-FFF2-40B4-BE49-F238E27FC236}">
                <a16:creationId xmlns:a16="http://schemas.microsoft.com/office/drawing/2014/main" id="{8D02152E-8E45-4458-8A8B-95A2D4622191}"/>
              </a:ext>
            </a:extLst>
          </p:cNvPr>
          <p:cNvSpPr>
            <a:spLocks noGrp="1"/>
          </p:cNvSpPr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" name="Google Shape;59;p32">
            <a:extLst>
              <a:ext uri="{FF2B5EF4-FFF2-40B4-BE49-F238E27FC236}">
                <a16:creationId xmlns:a16="http://schemas.microsoft.com/office/drawing/2014/main" id="{5793FC43-77C0-472A-A9AF-80D277CD966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>
            <a:extLst>
              <a:ext uri="{FF2B5EF4-FFF2-40B4-BE49-F238E27FC236}">
                <a16:creationId xmlns:a16="http://schemas.microsoft.com/office/drawing/2014/main" id="{702982B9-3B27-4EEE-BBB1-4799E8D5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3">
            <a:extLst>
              <a:ext uri="{FF2B5EF4-FFF2-40B4-BE49-F238E27FC236}">
                <a16:creationId xmlns:a16="http://schemas.microsoft.com/office/drawing/2014/main" id="{2FD3C8ED-3383-4BCA-9C7E-D465EC755534}"/>
              </a:ext>
            </a:extLst>
          </p:cNvPr>
          <p:cNvSpPr>
            <a:spLocks noGrp="1"/>
          </p:cNvSpPr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" name="Google Shape;63;p33">
            <a:extLst>
              <a:ext uri="{FF2B5EF4-FFF2-40B4-BE49-F238E27FC236}">
                <a16:creationId xmlns:a16="http://schemas.microsoft.com/office/drawing/2014/main" id="{6FFA6CB9-42D1-4D7C-AAF7-A67738D6B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>
            <a:extLst>
              <a:ext uri="{FF2B5EF4-FFF2-40B4-BE49-F238E27FC236}">
                <a16:creationId xmlns:a16="http://schemas.microsoft.com/office/drawing/2014/main" id="{59E6A58F-8494-4452-B278-2F9E1321DD7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0;g33cef942d38_1_78"/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ln>
            <a:noFill/>
          </a:ln>
        </p:spPr>
      </p:pic>
      <p:sp>
        <p:nvSpPr>
          <p:cNvPr id="71" name="Google Shape;71;g33cef942d38_1_78">
            <a:extLst>
              <a:ext uri="{FF2B5EF4-FFF2-40B4-BE49-F238E27FC236}">
                <a16:creationId xmlns:a16="http://schemas.microsoft.com/office/drawing/2014/main" id="{0D7EA885-F469-4EFA-9471-2C4AA83CD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g33cef942d38_1_78">
            <a:extLst>
              <a:ext uri="{FF2B5EF4-FFF2-40B4-BE49-F238E27FC236}">
                <a16:creationId xmlns:a16="http://schemas.microsoft.com/office/drawing/2014/main" id="{1FB34F44-FB95-46C3-82C5-F4B21E70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cef942d38_1_82">
            <a:extLst>
              <a:ext uri="{FF2B5EF4-FFF2-40B4-BE49-F238E27FC236}">
                <a16:creationId xmlns:a16="http://schemas.microsoft.com/office/drawing/2014/main" id="{5115777D-CAA7-403D-BDA7-324BEDECF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g33cef942d38_1_82">
            <a:extLst>
              <a:ext uri="{FF2B5EF4-FFF2-40B4-BE49-F238E27FC236}">
                <a16:creationId xmlns:a16="http://schemas.microsoft.com/office/drawing/2014/main" id="{0FB1AE07-7A27-4695-8A77-28D2C226D6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cef942d38_1_85">
            <a:extLst>
              <a:ext uri="{FF2B5EF4-FFF2-40B4-BE49-F238E27FC236}">
                <a16:creationId xmlns:a16="http://schemas.microsoft.com/office/drawing/2014/main" id="{DD902CF5-AA6F-45B3-9781-0AB439D2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cef942d38_1_87">
            <a:extLst>
              <a:ext uri="{FF2B5EF4-FFF2-40B4-BE49-F238E27FC236}">
                <a16:creationId xmlns:a16="http://schemas.microsoft.com/office/drawing/2014/main" id="{10F57B33-3E38-4761-96D0-6ED2BED7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33cef942d38_1_87">
            <a:extLst>
              <a:ext uri="{FF2B5EF4-FFF2-40B4-BE49-F238E27FC236}">
                <a16:creationId xmlns:a16="http://schemas.microsoft.com/office/drawing/2014/main" id="{60AA507C-E1A6-4ABA-98DC-01B01FCDB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238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g33cef942d38_1_87">
            <a:extLst>
              <a:ext uri="{FF2B5EF4-FFF2-40B4-BE49-F238E27FC236}">
                <a16:creationId xmlns:a16="http://schemas.microsoft.com/office/drawing/2014/main" id="{9A8C18EE-379B-439D-984D-7C7CFB0E37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cef942d38_1_91">
            <a:extLst>
              <a:ext uri="{FF2B5EF4-FFF2-40B4-BE49-F238E27FC236}">
                <a16:creationId xmlns:a16="http://schemas.microsoft.com/office/drawing/2014/main" id="{39A02881-701B-46E0-945D-9B8DB764E8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4" name="Google Shape;84;g33cef942d38_1_91">
            <a:extLst>
              <a:ext uri="{FF2B5EF4-FFF2-40B4-BE49-F238E27FC236}">
                <a16:creationId xmlns:a16="http://schemas.microsoft.com/office/drawing/2014/main" id="{C2FAC62D-72C3-4A11-BE54-BE5D11DEF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3cef942d38_1_91">
            <a:extLst>
              <a:ext uri="{FF2B5EF4-FFF2-40B4-BE49-F238E27FC236}">
                <a16:creationId xmlns:a16="http://schemas.microsoft.com/office/drawing/2014/main" id="{666AB5E8-088D-4470-BF01-E5B60A618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g33cef942d38_1_91">
            <a:extLst>
              <a:ext uri="{FF2B5EF4-FFF2-40B4-BE49-F238E27FC236}">
                <a16:creationId xmlns:a16="http://schemas.microsoft.com/office/drawing/2014/main" id="{0047E18C-86F1-40F8-8075-438A90656AF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g33cef942d38_1_91">
            <a:extLst>
              <a:ext uri="{FF2B5EF4-FFF2-40B4-BE49-F238E27FC236}">
                <a16:creationId xmlns:a16="http://schemas.microsoft.com/office/drawing/2014/main" id="{0DF0882F-7FB0-43B9-BB70-211B36C8EAB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g33cef942d38_1_91">
            <a:extLst>
              <a:ext uri="{FF2B5EF4-FFF2-40B4-BE49-F238E27FC236}">
                <a16:creationId xmlns:a16="http://schemas.microsoft.com/office/drawing/2014/main" id="{6BC3A5BE-C405-4BE1-9931-CD16C665C40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cef942d38_1_98">
            <a:extLst>
              <a:ext uri="{FF2B5EF4-FFF2-40B4-BE49-F238E27FC236}">
                <a16:creationId xmlns:a16="http://schemas.microsoft.com/office/drawing/2014/main" id="{599E8B77-6603-4035-8C20-FA71E71972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95" name="Google Shape;91;g33cef942d38_1_98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92" name="Google Shape;92;g33cef942d38_1_98">
            <a:extLst>
              <a:ext uri="{FF2B5EF4-FFF2-40B4-BE49-F238E27FC236}">
                <a16:creationId xmlns:a16="http://schemas.microsoft.com/office/drawing/2014/main" id="{611C2E30-1E44-482D-B93B-BB5DAB9B1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cef942d38_1_102">
            <a:extLst>
              <a:ext uri="{FF2B5EF4-FFF2-40B4-BE49-F238E27FC236}">
                <a16:creationId xmlns:a16="http://schemas.microsoft.com/office/drawing/2014/main" id="{AC3153F8-86A6-4743-8ED0-F5CF7F67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3cef942d38_1_102">
            <a:extLst>
              <a:ext uri="{FF2B5EF4-FFF2-40B4-BE49-F238E27FC236}">
                <a16:creationId xmlns:a16="http://schemas.microsoft.com/office/drawing/2014/main" id="{9C2F48B1-4041-458B-918E-34DD49515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g33cef942d38_1_102">
            <a:extLst>
              <a:ext uri="{FF2B5EF4-FFF2-40B4-BE49-F238E27FC236}">
                <a16:creationId xmlns:a16="http://schemas.microsoft.com/office/drawing/2014/main" id="{78519F0A-4081-4818-8314-9ECDB70FD85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cef942d38_1_106">
            <a:extLst>
              <a:ext uri="{FF2B5EF4-FFF2-40B4-BE49-F238E27FC236}">
                <a16:creationId xmlns:a16="http://schemas.microsoft.com/office/drawing/2014/main" id="{86C14F67-5F6B-41AA-BA3B-C695385B50DA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3cef942d38_1_106">
            <a:extLst>
              <a:ext uri="{FF2B5EF4-FFF2-40B4-BE49-F238E27FC236}">
                <a16:creationId xmlns:a16="http://schemas.microsoft.com/office/drawing/2014/main" id="{2E1BC760-4FD0-48D9-80B0-AD185449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0" name="Google Shape;100;g33cef942d38_1_106">
            <a:extLst>
              <a:ext uri="{FF2B5EF4-FFF2-40B4-BE49-F238E27FC236}">
                <a16:creationId xmlns:a16="http://schemas.microsoft.com/office/drawing/2014/main" id="{A8F5D27C-1B8A-42F2-B862-85D2654C6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1" name="Google Shape;101;g33cef942d38_1_106">
            <a:extLst>
              <a:ext uri="{FF2B5EF4-FFF2-40B4-BE49-F238E27FC236}">
                <a16:creationId xmlns:a16="http://schemas.microsoft.com/office/drawing/2014/main" id="{3A2A66B3-76A6-41A7-9BBB-C1A74AC181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3cef942d38_1_106">
            <a:extLst>
              <a:ext uri="{FF2B5EF4-FFF2-40B4-BE49-F238E27FC236}">
                <a16:creationId xmlns:a16="http://schemas.microsoft.com/office/drawing/2014/main" id="{C353C4C5-260E-45EA-910D-2FA86ADCFF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cef942d38_1_112">
            <a:extLst>
              <a:ext uri="{FF2B5EF4-FFF2-40B4-BE49-F238E27FC236}">
                <a16:creationId xmlns:a16="http://schemas.microsoft.com/office/drawing/2014/main" id="{A178513F-14FA-478B-B0EF-29C80BC600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cef942d38_1_114">
            <a:extLst>
              <a:ext uri="{FF2B5EF4-FFF2-40B4-BE49-F238E27FC236}">
                <a16:creationId xmlns:a16="http://schemas.microsoft.com/office/drawing/2014/main" id="{DBF0D0DF-DCBD-4740-9BF9-1CB8DBE9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cef942d38_1_116">
            <a:extLst>
              <a:ext uri="{FF2B5EF4-FFF2-40B4-BE49-F238E27FC236}">
                <a16:creationId xmlns:a16="http://schemas.microsoft.com/office/drawing/2014/main" id="{30CF760A-56C8-47D2-ABBB-D99E5A5D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33cef942d38_1_116">
            <a:extLst>
              <a:ext uri="{FF2B5EF4-FFF2-40B4-BE49-F238E27FC236}">
                <a16:creationId xmlns:a16="http://schemas.microsoft.com/office/drawing/2014/main" id="{912EF35D-7CA1-490A-8E41-712BACAFDEA7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3cef942d38_1_116">
            <a:extLst>
              <a:ext uri="{FF2B5EF4-FFF2-40B4-BE49-F238E27FC236}">
                <a16:creationId xmlns:a16="http://schemas.microsoft.com/office/drawing/2014/main" id="{48A063DB-3CF0-4768-91DF-E05133374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cef942d38_1_120">
            <a:extLst>
              <a:ext uri="{FF2B5EF4-FFF2-40B4-BE49-F238E27FC236}">
                <a16:creationId xmlns:a16="http://schemas.microsoft.com/office/drawing/2014/main" id="{4B8408EC-5DB2-46FA-BDDF-23CFAF4B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3cef942d38_1_120">
            <a:extLst>
              <a:ext uri="{FF2B5EF4-FFF2-40B4-BE49-F238E27FC236}">
                <a16:creationId xmlns:a16="http://schemas.microsoft.com/office/drawing/2014/main" id="{081EB613-DDDA-48D7-AF72-2E796CAA4E11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3cef942d38_1_120">
            <a:extLst>
              <a:ext uri="{FF2B5EF4-FFF2-40B4-BE49-F238E27FC236}">
                <a16:creationId xmlns:a16="http://schemas.microsoft.com/office/drawing/2014/main" id="{C6D5F7BA-BE88-43E7-941D-9BDBC024D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cef942d38_1_124">
            <a:extLst>
              <a:ext uri="{FF2B5EF4-FFF2-40B4-BE49-F238E27FC236}">
                <a16:creationId xmlns:a16="http://schemas.microsoft.com/office/drawing/2014/main" id="{F9393B7A-2BCD-4520-AA65-70FB37CD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3cef942d38_1_124">
            <a:extLst>
              <a:ext uri="{FF2B5EF4-FFF2-40B4-BE49-F238E27FC236}">
                <a16:creationId xmlns:a16="http://schemas.microsoft.com/office/drawing/2014/main" id="{9F144160-DFA2-405A-9D38-7F193DAC8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g33cef942d38_1_124">
            <a:extLst>
              <a:ext uri="{FF2B5EF4-FFF2-40B4-BE49-F238E27FC236}">
                <a16:creationId xmlns:a16="http://schemas.microsoft.com/office/drawing/2014/main" id="{E1097669-3480-4E40-8084-3A2EF6072945}"/>
              </a:ext>
            </a:extLst>
          </p:cNvPr>
          <p:cNvSpPr>
            <a:spLocks noGrp="1"/>
          </p:cNvSpPr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3cef942d38_1_124">
            <a:extLst>
              <a:ext uri="{FF2B5EF4-FFF2-40B4-BE49-F238E27FC236}">
                <a16:creationId xmlns:a16="http://schemas.microsoft.com/office/drawing/2014/main" id="{E7C6A03E-9B56-4FFD-A3D5-DBDA23D9E2F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cef942d38_1_129">
            <a:extLst>
              <a:ext uri="{FF2B5EF4-FFF2-40B4-BE49-F238E27FC236}">
                <a16:creationId xmlns:a16="http://schemas.microsoft.com/office/drawing/2014/main" id="{51D03B33-D8FE-45FC-9552-2160F724E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3cef942d38_1_129">
            <a:extLst>
              <a:ext uri="{FF2B5EF4-FFF2-40B4-BE49-F238E27FC236}">
                <a16:creationId xmlns:a16="http://schemas.microsoft.com/office/drawing/2014/main" id="{E819BCF9-0E49-4BF4-B8D6-F1668DF73F89}"/>
              </a:ext>
            </a:extLst>
          </p:cNvPr>
          <p:cNvSpPr>
            <a:spLocks noGrp="1"/>
          </p:cNvSpPr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3cef942d38_1_129">
            <a:extLst>
              <a:ext uri="{FF2B5EF4-FFF2-40B4-BE49-F238E27FC236}">
                <a16:creationId xmlns:a16="http://schemas.microsoft.com/office/drawing/2014/main" id="{566D1BB7-1FF7-4126-99CD-C02856216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3cef942d38_1_129">
            <a:extLst>
              <a:ext uri="{FF2B5EF4-FFF2-40B4-BE49-F238E27FC236}">
                <a16:creationId xmlns:a16="http://schemas.microsoft.com/office/drawing/2014/main" id="{6215D39A-4C50-48AA-9564-E9A6CE623A4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>
            <a:extLst>
              <a:ext uri="{FF2B5EF4-FFF2-40B4-BE49-F238E27FC236}">
                <a16:creationId xmlns:a16="http://schemas.microsoft.com/office/drawing/2014/main" id="{E43C9EC3-BE25-40AD-AB91-45E91175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7" name="Google Shape;7;p19">
            <a:extLst>
              <a:ext uri="{FF2B5EF4-FFF2-40B4-BE49-F238E27FC236}">
                <a16:creationId xmlns:a16="http://schemas.microsoft.com/office/drawing/2014/main" id="{B4029224-215C-4D7B-A286-BFC0FBD1A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marR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marR="0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marR="0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cap="none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8" name="Google Shape;8;p19">
            <a:extLst>
              <a:ext uri="{FF2B5EF4-FFF2-40B4-BE49-F238E27FC236}">
                <a16:creationId xmlns:a16="http://schemas.microsoft.com/office/drawing/2014/main" id="{DAA67668-DCF3-4E8C-9295-89999C35D2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ef942d38_1_74">
            <a:extLst>
              <a:ext uri="{FF2B5EF4-FFF2-40B4-BE49-F238E27FC236}">
                <a16:creationId xmlns:a16="http://schemas.microsoft.com/office/drawing/2014/main" id="{7D61D465-063F-48F7-8C63-A55538830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67" name="Google Shape;67;g33cef942d38_1_74">
            <a:extLst>
              <a:ext uri="{FF2B5EF4-FFF2-40B4-BE49-F238E27FC236}">
                <a16:creationId xmlns:a16="http://schemas.microsoft.com/office/drawing/2014/main" id="{02356D84-AAEA-4B73-AEDD-82A5C87A7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68" name="Google Shape;68;g33cef942d38_1_74">
            <a:extLst>
              <a:ext uri="{FF2B5EF4-FFF2-40B4-BE49-F238E27FC236}">
                <a16:creationId xmlns:a16="http://schemas.microsoft.com/office/drawing/2014/main" id="{1DF0FBC7-E7F1-4898-9941-D683B12649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cef942d38_1_69">
            <a:extLst>
              <a:ext uri="{FF2B5EF4-FFF2-40B4-BE49-F238E27FC236}">
                <a16:creationId xmlns:a16="http://schemas.microsoft.com/office/drawing/2014/main" id="{1AF6BE03-9AC9-4BBD-8B5B-AB649298F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otus.ru</a:t>
            </a:r>
          </a:p>
        </p:txBody>
      </p:sp>
      <p:sp>
        <p:nvSpPr>
          <p:cNvPr id="130" name="Google Shape;130;g33cef942d38_1_69">
            <a:extLst>
              <a:ext uri="{FF2B5EF4-FFF2-40B4-BE49-F238E27FC236}">
                <a16:creationId xmlns:a16="http://schemas.microsoft.com/office/drawing/2014/main" id="{70FC8F87-D452-4E15-890A-3189FC7D3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690" y="809625"/>
            <a:ext cx="7379684" cy="29527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Онлайн-магазин
с использованием
микросервисной архитектуры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/>
              <a:t>Выпускной проект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</p:spTree>
    <p:extLst>
      <p:ext uri="{BB962C8B-B14F-4D97-AF65-F5344CB8AC3E}">
        <p14:creationId xmlns:p14="http://schemas.microsoft.com/office/powerpoint/2010/main" val="182376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69F96F4B-D7AC-4184-AED8-4D544776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4000"/>
              <a:t>Меня хорошо видно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sz="4000"/>
              <a:t>&amp; слышно?</a:t>
            </a:r>
          </a:p>
        </p:txBody>
      </p:sp>
      <p:pic>
        <p:nvPicPr>
          <p:cNvPr id="139" name="Google Shape;136;p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ln>
            <a:noFill/>
          </a:ln>
        </p:spPr>
      </p:pic>
      <p:pic>
        <p:nvPicPr>
          <p:cNvPr id="140" name="Google Shape;137;p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397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>
            <a:extLst>
              <a:ext uri="{FF2B5EF4-FFF2-40B4-BE49-F238E27FC236}">
                <a16:creationId xmlns:a16="http://schemas.microsoft.com/office/drawing/2014/main" id="{84E40AE9-B5BA-4DFF-985E-C28AE4C84092}"/>
              </a:ext>
            </a:extLst>
          </p:cNvPr>
          <p:cNvSpPr>
            <a:spLocks noGrp="1"/>
          </p:cNvSpPr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9" name="Google Shape;143;p3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2992" b="12992"/>
          <a:stretch>
            <a:fillRect/>
          </a:stretch>
        </p:blipFill>
        <p:spPr>
          <a:xfrm>
            <a:off x="1069674" y="2963889"/>
            <a:ext cx="1508400" cy="1488600"/>
          </a:xfrm>
          <a:prstGeom prst="ellipse">
            <a:avLst/>
          </a:prstGeom>
          <a:ln>
            <a:noFill/>
          </a:ln>
        </p:spPr>
      </p:pic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25DAF14C-C6EA-4664-86EA-251F629B9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/>
              <a:t>Защита проекта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/>
              <a:t>Тема: Онлайн-магазин с использованием
микросервисной архитектуры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sz="3000"/>
          </a:p>
        </p:txBody>
      </p:sp>
      <p:sp>
        <p:nvSpPr>
          <p:cNvPr id="145" name="Google Shape;145;p3">
            <a:extLst>
              <a:ext uri="{FF2B5EF4-FFF2-40B4-BE49-F238E27FC236}">
                <a16:creationId xmlns:a16="http://schemas.microsoft.com/office/drawing/2014/main" id="{85B53C01-C285-4950-ABCB-7E1623E7FE60}"/>
              </a:ext>
            </a:extLst>
          </p:cNvPr>
          <p:cNvSpPr>
            <a:spLocks noGrp="1"/>
          </p:cNvSpPr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Маслов Павел Евгеньевич</a:t>
            </a:r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E11BF104-F098-4A75-86DE-019BEB7B8345}"/>
              </a:ext>
            </a:extLst>
          </p:cNvPr>
          <p:cNvSpPr>
            <a:spLocks noGrp="1"/>
          </p:cNvSpPr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C#/.NET разработчик</a:t>
            </a: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Компания: —</a:t>
            </a:r>
          </a:p>
        </p:txBody>
      </p:sp>
    </p:spTree>
    <p:extLst>
      <p:ext uri="{BB962C8B-B14F-4D97-AF65-F5344CB8AC3E}">
        <p14:creationId xmlns:p14="http://schemas.microsoft.com/office/powerpoint/2010/main" val="80027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>
            <a:extLst>
              <a:ext uri="{FF2B5EF4-FFF2-40B4-BE49-F238E27FC236}">
                <a16:creationId xmlns:a16="http://schemas.microsoft.com/office/drawing/2014/main" id="{D37AF9B7-5D5B-4AAE-90D2-E342D1CC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/>
              <a:t>План защиты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</p:txBody>
      </p:sp>
      <p:sp>
        <p:nvSpPr>
          <p:cNvPr id="152" name="Google Shape;152;p4">
            <a:extLst>
              <a:ext uri="{FF2B5EF4-FFF2-40B4-BE49-F238E27FC236}">
                <a16:creationId xmlns:a16="http://schemas.microsoft.com/office/drawing/2014/main" id="{CBBEFE5E-16C0-4516-883A-A8E1AB40A15A}"/>
              </a:ext>
            </a:extLst>
          </p:cNvPr>
          <p:cNvSpPr>
            <a:spLocks noGrp="1"/>
          </p:cNvSpPr>
          <p:nvPr/>
        </p:nvSpPr>
        <p:spPr>
          <a:xfrm>
            <a:off x="786525" y="15103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>
                <a:solidFill>
                  <a:schemeClr val="dk1"/>
                </a:solidFill>
                <a:latin typeface="Roboto"/>
                <a:ea typeface="Roboto"/>
                <a:cs typeface="Roboto"/>
              </a:rPr>
              <a:t>Описание проекта и сценарии</a:t>
            </a:r>
          </a:p>
        </p:txBody>
      </p:sp>
      <p:sp>
        <p:nvSpPr>
          <p:cNvPr id="153" name="Google Shape;153;p4">
            <a:extLst>
              <a:ext uri="{FF2B5EF4-FFF2-40B4-BE49-F238E27FC236}">
                <a16:creationId xmlns:a16="http://schemas.microsoft.com/office/drawing/2014/main" id="{52751EFF-FAFF-4A45-AB33-280AD052928C}"/>
              </a:ext>
            </a:extLst>
          </p:cNvPr>
          <p:cNvSpPr>
            <a:spLocks noGrp="1"/>
          </p:cNvSpPr>
          <p:nvPr/>
        </p:nvSpPr>
        <p:spPr>
          <a:xfrm>
            <a:off x="787125" y="20998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>
                <a:solidFill>
                  <a:schemeClr val="dk1"/>
                </a:solidFill>
                <a:latin typeface="Roboto"/>
                <a:ea typeface="Roboto"/>
                <a:cs typeface="Roboto"/>
              </a:rPr>
              <a:t>Используемые технологии и паттерны</a:t>
            </a:r>
          </a:p>
        </p:txBody>
      </p:sp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F5840B7C-CBC2-4F9A-AA9C-EBB4EF0B243B}"/>
              </a:ext>
            </a:extLst>
          </p:cNvPr>
          <p:cNvSpPr>
            <a:spLocks noGrp="1"/>
          </p:cNvSpPr>
          <p:nvPr/>
        </p:nvSpPr>
        <p:spPr>
          <a:xfrm>
            <a:off x="787125" y="26830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>
                <a:solidFill>
                  <a:schemeClr val="dk1"/>
                </a:solidFill>
                <a:latin typeface="Roboto"/>
                <a:ea typeface="Roboto"/>
                <a:cs typeface="Roboto"/>
              </a:rPr>
              <a:t>Архитектура и взаимодействие сервисов</a:t>
            </a: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AB8A621D-8883-463E-AB76-739F25485A60}"/>
              </a:ext>
            </a:extLst>
          </p:cNvPr>
          <p:cNvSpPr>
            <a:spLocks noGrp="1"/>
          </p:cNvSpPr>
          <p:nvPr/>
        </p:nvSpPr>
        <p:spPr>
          <a:xfrm>
            <a:off x="786525" y="32662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>
                <a:solidFill>
                  <a:schemeClr val="dk1"/>
                </a:solidFill>
                <a:latin typeface="Roboto"/>
                <a:ea typeface="Roboto"/>
                <a:cs typeface="Roboto"/>
              </a:rPr>
              <a:t>Результаты, выводы и планы развития</a:t>
            </a:r>
          </a:p>
        </p:txBody>
      </p:sp>
      <p:cxnSp>
        <p:nvCxnSpPr>
          <p:cNvPr id="180" name="Google Shape;156;p4"/>
          <p:cNvCxnSpPr>
            <a:stCxn id="152" idx="1"/>
            <a:endCxn id="153" idx="1"/>
          </p:cNvCxnSpPr>
          <p:nvPr/>
        </p:nvCxnSpPr>
        <p:spPr>
          <a:xfrm>
            <a:off x="786525" y="1698425"/>
            <a:ext cx="600" cy="589500"/>
          </a:xfrm>
          <a:prstGeom prst="curvedConnector3">
            <a:avLst>
              <a:gd name="adj1" fmla="val -39687500"/>
            </a:avLst>
          </a:prstGeom>
          <a:ln w="9525" cap="flat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1" name="Google Shape;157;p4"/>
          <p:cNvCxnSpPr>
            <a:stCxn id="153" idx="1"/>
            <a:endCxn id="154" idx="1"/>
          </p:cNvCxnSpPr>
          <p:nvPr/>
        </p:nvCxnSpPr>
        <p:spPr>
          <a:xfrm>
            <a:off x="787125" y="2287925"/>
            <a:ext cx="600" cy="583200"/>
          </a:xfrm>
          <a:prstGeom prst="curvedConnector3">
            <a:avLst>
              <a:gd name="adj1" fmla="val -39687500"/>
            </a:avLst>
          </a:prstGeom>
          <a:ln w="9525" cap="flat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2" name="Google Shape;158;p4"/>
          <p:cNvCxnSpPr>
            <a:stCxn id="154" idx="1"/>
            <a:endCxn id="155" idx="1"/>
          </p:cNvCxnSpPr>
          <p:nvPr/>
        </p:nvCxnSpPr>
        <p:spPr>
          <a:xfrm flipH="1">
            <a:off x="786525" y="2871125"/>
            <a:ext cx="600" cy="583200"/>
          </a:xfrm>
          <a:prstGeom prst="curvedConnector3">
            <a:avLst>
              <a:gd name="adj1" fmla="val 39787500"/>
            </a:avLst>
          </a:prstGeom>
          <a:ln w="9525" cap="flat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92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A0A1D72B-D9FA-4F38-9681-C46225D9396C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Общее описание проекта</a:t>
            </a:r>
          </a:p>
        </p:txBody>
      </p:sp>
      <p:sp>
        <p:nvSpPr>
          <p:cNvPr id="2" name="overview-lead">
            <a:extLst>
              <a:ext uri="{FF2B5EF4-FFF2-40B4-BE49-F238E27FC236}">
                <a16:creationId xmlns:a16="http://schemas.microsoft.com/office/drawing/2014/main" id="{85FABA0D-1A7E-4C85-A0ED-5EBB7D85DB99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E1E1E"/>
                </a:solidFill>
              </a:defRPr>
            </a:pPr>
            <a:r>
              <a:rPr sz="1950" b="1">
                <a:solidFill>
                  <a:srgbClr val="1E1E1E"/>
                </a:solidFill>
              </a:rPr>
              <a:t>Backend-платформа интернет-магазина электроники, построенная как набор независимых микросервисов.</a:t>
            </a:r>
          </a:p>
        </p:txBody>
      </p:sp>
      <p:sp>
        <p:nvSpPr>
          <p:cNvPr id="3" name="overview-accent">
            <a:extLst>
              <a:ext uri="{FF2B5EF4-FFF2-40B4-BE49-F238E27FC236}">
                <a16:creationId xmlns:a16="http://schemas.microsoft.com/office/drawing/2014/main" id="{A22EB1E5-7166-457C-89A8-EDCC0C6F6749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66675" cy="1962150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buyer-heading">
            <a:extLst>
              <a:ext uri="{FF2B5EF4-FFF2-40B4-BE49-F238E27FC236}">
                <a16:creationId xmlns:a16="http://schemas.microsoft.com/office/drawing/2014/main" id="{0B6B281C-4CF7-4DDA-BB65-06D137FC3829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1E1E"/>
                </a:solidFill>
              </a:defRPr>
            </a:pPr>
            <a:r>
              <a:rPr sz="1800" b="1">
                <a:solidFill>
                  <a:srgbClr val="1E1E1E"/>
                </a:solidFill>
              </a:rPr>
              <a:t>Покупатель</a:t>
            </a:r>
          </a:p>
        </p:txBody>
      </p:sp>
      <p:sp>
        <p:nvSpPr>
          <p:cNvPr id="5" name="buyer-copy">
            <a:extLst>
              <a:ext uri="{FF2B5EF4-FFF2-40B4-BE49-F238E27FC236}">
                <a16:creationId xmlns:a16="http://schemas.microsoft.com/office/drawing/2014/main" id="{C275AE9E-EA45-4589-B88E-ACBB48E4183C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3333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Регистрируется и входит в систему</a:t>
            </a:r>
          </a:p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Просматривает каталог и наличие</a:t>
            </a:r>
          </a:p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Управляет профилем и адресами</a:t>
            </a:r>
          </a:p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Оформляет, оплачивает и получает заказ</a:t>
            </a:r>
          </a:p>
        </p:txBody>
      </p:sp>
      <p:sp>
        <p:nvSpPr>
          <p:cNvPr id="6" name="admin-heading">
            <a:extLst>
              <a:ext uri="{FF2B5EF4-FFF2-40B4-BE49-F238E27FC236}">
                <a16:creationId xmlns:a16="http://schemas.microsoft.com/office/drawing/2014/main" id="{6A44AF29-BDA4-49C5-94E7-87C1C34D1694}"/>
              </a:ext>
            </a:extLst>
          </p:cNvPr>
          <p:cNvSpPr>
            <a:spLocks noGrp="1"/>
          </p:cNvSpPr>
          <p:nvPr/>
        </p:nvSpPr>
        <p:spPr>
          <a:xfrm>
            <a:off x="49530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1E1E"/>
                </a:solidFill>
              </a:defRPr>
            </a:pPr>
            <a:r>
              <a:rPr sz="1800" b="1">
                <a:solidFill>
                  <a:srgbClr val="1E1E1E"/>
                </a:solidFill>
              </a:rPr>
              <a:t>Администратор</a:t>
            </a:r>
          </a:p>
        </p:txBody>
      </p:sp>
      <p:sp>
        <p:nvSpPr>
          <p:cNvPr id="7" name="admin-copy">
            <a:extLst>
              <a:ext uri="{FF2B5EF4-FFF2-40B4-BE49-F238E27FC236}">
                <a16:creationId xmlns:a16="http://schemas.microsoft.com/office/drawing/2014/main" id="{63CFA4B9-702E-4D0E-9D74-0EAA9CB86F18}"/>
              </a:ext>
            </a:extLst>
          </p:cNvPr>
          <p:cNvSpPr>
            <a:spLocks noGrp="1"/>
          </p:cNvSpPr>
          <p:nvPr/>
        </p:nvSpPr>
        <p:spPr>
          <a:xfrm>
            <a:off x="4953000" y="2247900"/>
            <a:ext cx="3333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Управляет товарами каталога</a:t>
            </a:r>
          </a:p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Пополняет складские остатки</a:t>
            </a:r>
          </a:p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Настраивает зоны и слоты доставки</a:t>
            </a:r>
          </a:p>
          <a:p>
            <a:pPr algn="l">
              <a:defRPr sz="1500" b="0">
                <a:solidFill>
                  <a:srgbClr val="1E1E1E"/>
                </a:solidFill>
              </a:defRPr>
            </a:pPr>
            <a:r>
              <a:rPr sz="1500" b="0">
                <a:solidFill>
                  <a:srgbClr val="1E1E1E"/>
                </a:solidFill>
              </a:rPr>
              <a:t>Контролирует состояние системы</a:t>
            </a:r>
          </a:p>
        </p:txBody>
      </p:sp>
      <p:sp>
        <p:nvSpPr>
          <p:cNvPr id="8" name="customer-journey">
            <a:extLst>
              <a:ext uri="{FF2B5EF4-FFF2-40B4-BE49-F238E27FC236}">
                <a16:creationId xmlns:a16="http://schemas.microsoft.com/office/drawing/2014/main" id="{5834BE2C-3B41-4DD0-B0C5-9EFE9F59BFFF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7905750" cy="514350"/>
          </a:xfrm>
          <a:prstGeom prst="roundRect">
            <a:avLst>
              <a:gd name="adj" fmla="val 14815"/>
            </a:avLst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Регистрация  →  Каталог  →  Заказ  →  Оплата и резервы  →  Доставка  →  Уведомление</a:t>
            </a:r>
          </a:p>
        </p:txBody>
      </p:sp>
    </p:spTree>
    <p:extLst>
      <p:ext uri="{BB962C8B-B14F-4D97-AF65-F5344CB8AC3E}">
        <p14:creationId xmlns:p14="http://schemas.microsoft.com/office/powerpoint/2010/main" val="87979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>
            <a:extLst>
              <a:ext uri="{FF2B5EF4-FFF2-40B4-BE49-F238E27FC236}">
                <a16:creationId xmlns:a16="http://schemas.microsoft.com/office/drawing/2014/main" id="{4C9DB051-9BFA-4E87-B403-F29DDD4EA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sz="3000"/>
              <a:t>Используемые технологии и паттерны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</p:txBody>
      </p:sp>
      <p:graphicFrame>
        <p:nvGraphicFramePr>
          <p:cNvPr id="173" name="Google Shape;169;p7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tableStyleId>{179F2DDD-858B-4C48-8312-BD252F341D8D}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sz="1300" b="1" u="non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>ASP.NET Core 8, REST, JWT RS256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sz="1300" b="1" u="non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>PostgreSQL, Redis, Apache Kafka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sz="1300" b="1" u="non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>Saga, Outbox/Inbox, Idempotency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sz="1300" b="1" u="non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>Docker, Kubernetes, Helm, Traefik</a:t>
                      </a:r>
                    </a:p>
                  </a:txBody>
                  <a:tcPr marL="198000" marR="91425" marT="68575" marB="68575">
                    <a:lnL w="9525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0" name="Google Shape;170;p7">
            <a:extLst>
              <a:ext uri="{FF2B5EF4-FFF2-40B4-BE49-F238E27FC236}">
                <a16:creationId xmlns:a16="http://schemas.microsoft.com/office/drawing/2014/main" id="{6EFDDB1D-B1CF-4DF7-BC96-C6F510409D87}"/>
              </a:ext>
            </a:extLst>
          </p:cNvPr>
          <p:cNvSpPr>
            <a:spLocks noGrp="1"/>
          </p:cNvSpPr>
          <p:nvPr/>
        </p:nvSpPr>
        <p:spPr>
          <a:xfrm>
            <a:off x="4934400" y="3763050"/>
            <a:ext cx="3257100" cy="830400"/>
          </a:xfrm>
          <a:prstGeom prst="wedgeRectCallout">
            <a:avLst>
              <a:gd name="adj1" fmla="val -32765"/>
              <a:gd name="adj2" fmla="val -96401"/>
            </a:avLst>
          </a:prstGeom>
          <a:solidFill>
            <a:srgbClr val="F3F3F3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98000" tIns="126000" rIns="198000" bIns="1260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Prometheus + Grafana — метрики</a:t>
            </a:r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Elasticsearch + Kibana — логи</a:t>
            </a:r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Postman/Newman — E2E-проверка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32036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cef942d38_1_146">
            <a:extLst>
              <a:ext uri="{FF2B5EF4-FFF2-40B4-BE49-F238E27FC236}">
                <a16:creationId xmlns:a16="http://schemas.microsoft.com/office/drawing/2014/main" id="{0A55D97F-7A4A-44B9-A0CF-5C58A2DA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sz="3000"/>
              <a:t>Диаграмма развертывания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</p:txBody>
      </p:sp>
      <p:pic>
        <p:nvPicPr>
          <p:cNvPr id="180" name="Рисунок 17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3623" y="1066800"/>
            <a:ext cx="5096755" cy="3219450"/>
          </a:xfrm>
          <a:prstGeom prst="rect">
            <a:avLst/>
          </a:prstGeom>
        </p:spPr>
      </p:pic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FBFB89D4-6207-49DE-A4C2-C9EC9F4654B6}"/>
              </a:ext>
            </a:extLst>
          </p:cNvPr>
          <p:cNvSpPr>
            <a:spLocks noGrp="1"/>
          </p:cNvSpPr>
          <p:nvPr/>
        </p:nvSpPr>
        <p:spPr>
          <a:xfrm>
            <a:off x="1666875" y="43053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Каждый микросервис владеет своей моделью и логической базой данных</a:t>
            </a:r>
          </a:p>
        </p:txBody>
      </p:sp>
    </p:spTree>
    <p:extLst>
      <p:ext uri="{BB962C8B-B14F-4D97-AF65-F5344CB8AC3E}">
        <p14:creationId xmlns:p14="http://schemas.microsoft.com/office/powerpoint/2010/main" val="76011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C3A7F53A-B751-4BF4-A0DA-3366DE0898E7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Оформление заказа: создание заказа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328083"/>
            <a:ext cx="8096250" cy="304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624120"/>
            <a:ext cx="7239000" cy="2371510"/>
          </a:xfrm>
          <a:prstGeom prst="rect">
            <a:avLst/>
          </a:prstGeom>
        </p:spPr>
      </p:pic>
      <p:sp>
        <p:nvSpPr>
          <p:cNvPr id="2" name="slide-title">
            <a:extLst>
              <a:ext uri="{FF2B5EF4-FFF2-40B4-BE49-F238E27FC236}">
                <a16:creationId xmlns:a16="http://schemas.microsoft.com/office/drawing/2014/main" id="{756AD2C2-2279-43DD-ABCB-567197FD97BF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Оформление заказа: проверка статуса</a:t>
            </a:r>
          </a:p>
        </p:txBody>
      </p:sp>
    </p:spTree>
    <p:extLst>
      <p:ext uri="{BB962C8B-B14F-4D97-AF65-F5344CB8AC3E}">
        <p14:creationId xmlns:p14="http://schemas.microsoft.com/office/powerpoint/2010/main" val="114513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8323" y="1066800"/>
            <a:ext cx="6147354" cy="3571875"/>
          </a:xfrm>
          <a:prstGeom prst="rect">
            <a:avLst/>
          </a:prstGeom>
        </p:spPr>
      </p:pic>
      <p:sp>
        <p:nvSpPr>
          <p:cNvPr id="3" name="slide-title-top">
            <a:extLst>
              <a:ext uri="{FF2B5EF4-FFF2-40B4-BE49-F238E27FC236}">
                <a16:creationId xmlns:a16="http://schemas.microsoft.com/office/drawing/2014/main" id="{1778E552-457D-4D54-B89E-6512753BE8E1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Оформление заказа: резервы</a:t>
            </a:r>
          </a:p>
        </p:txBody>
      </p:sp>
    </p:spTree>
    <p:extLst>
      <p:ext uri="{BB962C8B-B14F-4D97-AF65-F5344CB8AC3E}">
        <p14:creationId xmlns:p14="http://schemas.microsoft.com/office/powerpoint/2010/main" val="59647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000" y="1322852"/>
            <a:ext cx="6858000" cy="2974047"/>
          </a:xfrm>
          <a:prstGeom prst="rect">
            <a:avLst/>
          </a:prstGeom>
        </p:spPr>
      </p:pic>
      <p:sp>
        <p:nvSpPr>
          <p:cNvPr id="2" name="slide-title">
            <a:extLst>
              <a:ext uri="{FF2B5EF4-FFF2-40B4-BE49-F238E27FC236}">
                <a16:creationId xmlns:a16="http://schemas.microsoft.com/office/drawing/2014/main" id="{634C0CD9-4E05-481E-B8E0-DEBBB61FF5B6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Оформление заказа: подтверждение</a:t>
            </a:r>
          </a:p>
        </p:txBody>
      </p:sp>
    </p:spTree>
    <p:extLst>
      <p:ext uri="{BB962C8B-B14F-4D97-AF65-F5344CB8AC3E}">
        <p14:creationId xmlns:p14="http://schemas.microsoft.com/office/powerpoint/2010/main" val="1514621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2325" y="1066800"/>
            <a:ext cx="7179350" cy="3571875"/>
          </a:xfrm>
          <a:prstGeom prst="rect">
            <a:avLst/>
          </a:prstGeom>
        </p:spPr>
      </p:pic>
      <p:sp>
        <p:nvSpPr>
          <p:cNvPr id="3" name="slide-title-top">
            <a:extLst>
              <a:ext uri="{FF2B5EF4-FFF2-40B4-BE49-F238E27FC236}">
                <a16:creationId xmlns:a16="http://schemas.microsoft.com/office/drawing/2014/main" id="{44BABCB1-AE3B-4BFD-88E2-2C1C6A41954E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Регистрация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932806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8750" y="1844877"/>
            <a:ext cx="6286500" cy="1929996"/>
          </a:xfrm>
          <a:prstGeom prst="rect">
            <a:avLst/>
          </a:prstGeom>
        </p:spPr>
      </p:pic>
      <p:sp>
        <p:nvSpPr>
          <p:cNvPr id="2" name="slide-title">
            <a:extLst>
              <a:ext uri="{FF2B5EF4-FFF2-40B4-BE49-F238E27FC236}">
                <a16:creationId xmlns:a16="http://schemas.microsoft.com/office/drawing/2014/main" id="{49B82C0D-E5DA-42BE-80E6-842A8071824B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Создание счёта после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314297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cef942d38_2_4">
            <a:extLst>
              <a:ext uri="{FF2B5EF4-FFF2-40B4-BE49-F238E27FC236}">
                <a16:creationId xmlns:a16="http://schemas.microsoft.com/office/drawing/2014/main" id="{988A310E-AD60-4C35-A764-F4EDBB44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sz="3000"/>
              <a:t>Описание межсервисного взаимодействия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</p:txBody>
      </p:sp>
      <p:sp>
        <p:nvSpPr>
          <p:cNvPr id="192" name="Google Shape;192;g33cef942d38_2_4">
            <a:extLst>
              <a:ext uri="{FF2B5EF4-FFF2-40B4-BE49-F238E27FC236}">
                <a16:creationId xmlns:a16="http://schemas.microsoft.com/office/drawing/2014/main" id="{060409B4-3FB4-4E79-A15E-1C736F2B7EFC}"/>
              </a:ext>
            </a:extLst>
          </p:cNvPr>
          <p:cNvSpPr>
            <a:spLocks noGrp="1"/>
          </p:cNvSpPr>
          <p:nvPr/>
        </p:nvSpPr>
        <p:spPr>
          <a:xfrm>
            <a:off x="5146325" y="1878075"/>
            <a:ext cx="3257100" cy="644700"/>
          </a:xfrm>
          <a:prstGeom prst="wedgeRectCallout">
            <a:avLst>
              <a:gd name="adj1" fmla="val -20075"/>
              <a:gd name="adj2" fmla="val 76031"/>
            </a:avLst>
          </a:prstGeom>
          <a:solidFill>
            <a:srgbClr val="F3F3F3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98000" tIns="126000" rIns="198000" bIns="1260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HTTP/JSON для команд • Kafka для событий</a:t>
            </a:r>
          </a:p>
        </p:txBody>
      </p:sp>
      <p:sp>
        <p:nvSpPr>
          <p:cNvPr id="193" name="Прямоугольник: скругленные углы 192">
            <a:extLst>
              <a:ext uri="{FF2B5EF4-FFF2-40B4-BE49-F238E27FC236}">
                <a16:creationId xmlns:a16="http://schemas.microsoft.com/office/drawing/2014/main" id="{39E7D170-F956-4B79-896A-4CA5B1902604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3429000" cy="2571750"/>
          </a:xfrm>
          <a:prstGeom prst="roundRect">
            <a:avLst>
              <a:gd name="adj" fmla="val 2222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Синхронно — HTTP/JSON</a:t>
            </a:r>
          </a:p>
          <a:p>
            <a:endParaRPr sz="1350" b="0">
              <a:solidFill>
                <a:srgbClr val="1E1E1E"/>
              </a:solidFill>
            </a:endParaRP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Auth → Customer</a:t>
            </a: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Order → Catalog</a:t>
            </a: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Order → Billing / Warehouse / Delivery</a:t>
            </a:r>
          </a:p>
          <a:p>
            <a:endParaRPr sz="1350" b="0">
              <a:solidFill>
                <a:srgbClr val="1E1E1E"/>
              </a:solidFill>
            </a:endParaRP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Результат нужен для продолжения операции</a:t>
            </a:r>
          </a:p>
        </p:txBody>
      </p:sp>
      <p:sp>
        <p:nvSpPr>
          <p:cNvPr id="194" name="Прямоугольник: скругленные углы 193">
            <a:extLst>
              <a:ext uri="{FF2B5EF4-FFF2-40B4-BE49-F238E27FC236}">
                <a16:creationId xmlns:a16="http://schemas.microsoft.com/office/drawing/2014/main" id="{80684CAE-12B0-481A-99D7-230687D6C299}"/>
              </a:ext>
            </a:extLst>
          </p:cNvPr>
          <p:cNvSpPr>
            <a:spLocks noGrp="1"/>
          </p:cNvSpPr>
          <p:nvPr/>
        </p:nvSpPr>
        <p:spPr>
          <a:xfrm>
            <a:off x="5000625" y="1428750"/>
            <a:ext cx="3429000" cy="2571750"/>
          </a:xfrm>
          <a:prstGeom prst="roundRect">
            <a:avLst>
              <a:gd name="adj" fmla="val 2222"/>
            </a:avLst>
          </a:prstGeom>
          <a:solidFill>
            <a:srgbClr val="FFF8E1"/>
          </a:solidFill>
          <a:ln w="19050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Асинхронно — Apache Kafka</a:t>
            </a:r>
          </a:p>
          <a:p>
            <a:endParaRPr sz="1350" b="0">
              <a:solidFill>
                <a:srgbClr val="1E1E1E"/>
              </a:solidFill>
            </a:endParaRP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Auth → Billing</a:t>
            </a: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Catalog → Warehouse</a:t>
            </a: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Warehouse → Catalog</a:t>
            </a: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Order → Notification</a:t>
            </a:r>
          </a:p>
          <a:p>
            <a:endParaRPr sz="1350" b="0">
              <a:solidFill>
                <a:srgbClr val="1E1E1E"/>
              </a:solidFill>
            </a:endParaRPr>
          </a:p>
          <a:p>
            <a:pPr algn="ctr">
              <a:buNone/>
              <a:defRPr sz="1350" b="0">
                <a:solidFill>
                  <a:srgbClr val="1E1E1E"/>
                </a:solidFill>
              </a:defRPr>
            </a:pPr>
            <a:r>
              <a:rPr sz="1350" b="0">
                <a:solidFill>
                  <a:srgbClr val="1E1E1E"/>
                </a:solidFill>
              </a:rPr>
              <a:t>События доставляются независимо</a:t>
            </a:r>
          </a:p>
        </p:txBody>
      </p:sp>
      <p:sp>
        <p:nvSpPr>
          <p:cNvPr id="195" name="Прямоугольник 194">
            <a:extLst>
              <a:ext uri="{FF2B5EF4-FFF2-40B4-BE49-F238E27FC236}">
                <a16:creationId xmlns:a16="http://schemas.microsoft.com/office/drawing/2014/main" id="{57CFA638-F0F2-423E-9C18-C6A800EBEA96}"/>
              </a:ext>
            </a:extLst>
          </p:cNvPr>
          <p:cNvSpPr>
            <a:spLocks noGrp="1"/>
          </p:cNvSpPr>
          <p:nvPr/>
        </p:nvSpPr>
        <p:spPr>
          <a:xfrm>
            <a:off x="1524000" y="417195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E1E1E"/>
                </a:solidFill>
              </a:defRPr>
            </a:pPr>
            <a:r>
              <a:rPr sz="1275" b="1">
                <a:solidFill>
                  <a:srgbClr val="1E1E1E"/>
                </a:solidFill>
              </a:rPr>
              <a:t>Transactional Outbox + Inbox защищают доставку от потерь и повторов</a:t>
            </a:r>
          </a:p>
        </p:txBody>
      </p:sp>
    </p:spTree>
    <p:extLst>
      <p:ext uri="{BB962C8B-B14F-4D97-AF65-F5344CB8AC3E}">
        <p14:creationId xmlns:p14="http://schemas.microsoft.com/office/powerpoint/2010/main" val="1426247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cef942d38_2_11">
            <a:extLst>
              <a:ext uri="{FF2B5EF4-FFF2-40B4-BE49-F238E27FC236}">
                <a16:creationId xmlns:a16="http://schemas.microsoft.com/office/drawing/2014/main" id="{8F8855D2-3B9B-4B72-8FC5-C58D50BF2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sz="3000" dirty="0" err="1"/>
              <a:t>Схема</a:t>
            </a:r>
            <a:r>
              <a:rPr sz="3000" dirty="0"/>
              <a:t> </a:t>
            </a:r>
            <a:r>
              <a:rPr sz="3000" dirty="0" err="1"/>
              <a:t>хранения</a:t>
            </a:r>
            <a:r>
              <a:rPr sz="3000" dirty="0"/>
              <a:t> </a:t>
            </a:r>
            <a:r>
              <a:rPr sz="3000" dirty="0" err="1"/>
              <a:t>данных</a:t>
            </a:r>
            <a:endParaRPr sz="3000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</p:txBody>
      </p:sp>
      <p:sp>
        <p:nvSpPr>
          <p:cNvPr id="199" name="Прямоугольник: скругленные углы 198">
            <a:extLst>
              <a:ext uri="{FF2B5EF4-FFF2-40B4-BE49-F238E27FC236}">
                <a16:creationId xmlns:a16="http://schemas.microsoft.com/office/drawing/2014/main" id="{7204CE59-288E-41E4-98E9-27A016C2CC1B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2238375" cy="2190750"/>
          </a:xfrm>
          <a:prstGeom prst="roundRect">
            <a:avLst>
              <a:gd name="adj" fmla="val 2609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7 микросервисов</a:t>
            </a:r>
          </a:p>
          <a:p>
            <a:endParaRPr sz="1425" b="1">
              <a:solidFill>
                <a:srgbClr val="1E1E1E"/>
              </a:solidFill>
            </a:endParaRPr>
          </a:p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Отдельные логические БД</a:t>
            </a:r>
          </a:p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в общем PostgreSQL</a:t>
            </a:r>
          </a:p>
        </p:txBody>
      </p:sp>
      <p:sp>
        <p:nvSpPr>
          <p:cNvPr id="200" name="Прямоугольник: скругленные углы 199">
            <a:extLst>
              <a:ext uri="{FF2B5EF4-FFF2-40B4-BE49-F238E27FC236}">
                <a16:creationId xmlns:a16="http://schemas.microsoft.com/office/drawing/2014/main" id="{C819AF59-052E-4F63-A9B8-D7ECDA9BA413}"/>
              </a:ext>
            </a:extLst>
          </p:cNvPr>
          <p:cNvSpPr>
            <a:spLocks noGrp="1"/>
          </p:cNvSpPr>
          <p:nvPr/>
        </p:nvSpPr>
        <p:spPr>
          <a:xfrm>
            <a:off x="3429000" y="1476375"/>
            <a:ext cx="2238375" cy="2190750"/>
          </a:xfrm>
          <a:prstGeom prst="roundRect">
            <a:avLst>
              <a:gd name="adj" fmla="val 2609"/>
            </a:avLst>
          </a:prstGeom>
          <a:solidFill>
            <a:srgbClr val="FFF8E1"/>
          </a:solidFill>
          <a:ln w="19050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CatalogMs</a:t>
            </a:r>
          </a:p>
          <a:p>
            <a:endParaRPr sz="1425" b="1">
              <a:solidFill>
                <a:srgbClr val="1E1E1E"/>
              </a:solidFill>
            </a:endParaRPr>
          </a:p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PostgreSQL Primary</a:t>
            </a:r>
          </a:p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+</a:t>
            </a:r>
          </a:p>
          <a:p>
            <a:pPr algn="ctr">
              <a:buNone/>
              <a:defRPr sz="1425" b="1">
                <a:solidFill>
                  <a:srgbClr val="1E1E1E"/>
                </a:solidFill>
              </a:defRPr>
            </a:pPr>
            <a:r>
              <a:rPr sz="1425" b="1">
                <a:solidFill>
                  <a:srgbClr val="1E1E1E"/>
                </a:solidFill>
              </a:rPr>
              <a:t>Read Replica</a:t>
            </a:r>
          </a:p>
        </p:txBody>
      </p:sp>
      <p:sp>
        <p:nvSpPr>
          <p:cNvPr id="201" name="Прямоугольник: скругленные углы 200">
            <a:extLst>
              <a:ext uri="{FF2B5EF4-FFF2-40B4-BE49-F238E27FC236}">
                <a16:creationId xmlns:a16="http://schemas.microsoft.com/office/drawing/2014/main" id="{C99C2A47-750A-4E78-B2AE-4883F8FAC243}"/>
              </a:ext>
            </a:extLst>
          </p:cNvPr>
          <p:cNvSpPr>
            <a:spLocks noGrp="1"/>
          </p:cNvSpPr>
          <p:nvPr/>
        </p:nvSpPr>
        <p:spPr>
          <a:xfrm>
            <a:off x="6238875" y="1476375"/>
            <a:ext cx="2238375" cy="2190750"/>
          </a:xfrm>
          <a:prstGeom prst="roundRect">
            <a:avLst>
              <a:gd name="adj" fmla="val 2609"/>
            </a:avLst>
          </a:prstGeom>
          <a:solidFill>
            <a:srgbClr val="FFEBEE"/>
          </a:solidFill>
          <a:ln w="19050">
            <a:solidFill>
              <a:srgbClr val="ED1C2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Redis</a:t>
            </a:r>
          </a:p>
          <a:p>
            <a:endParaRPr sz="1350" b="1">
              <a:solidFill>
                <a:srgbClr val="1E1E1E"/>
              </a:solidFill>
            </a:endParaRPr>
          </a:p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Cache-Aside для каталога</a:t>
            </a:r>
          </a:p>
          <a:p>
            <a:endParaRPr sz="1350" b="1">
              <a:solidFill>
                <a:srgbClr val="1E1E1E"/>
              </a:solidFill>
            </a:endParaRPr>
          </a:p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Distributed Lock</a:t>
            </a:r>
          </a:p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при заполнении кэша</a:t>
            </a:r>
          </a:p>
        </p:txBody>
      </p:sp>
      <p:sp>
        <p:nvSpPr>
          <p:cNvPr id="202" name="Прямоугольник 201">
            <a:extLst>
              <a:ext uri="{FF2B5EF4-FFF2-40B4-BE49-F238E27FC236}">
                <a16:creationId xmlns:a16="http://schemas.microsoft.com/office/drawing/2014/main" id="{DFDB124F-2568-4E25-992D-A1322D012C9E}"/>
              </a:ext>
            </a:extLst>
          </p:cNvPr>
          <p:cNvSpPr>
            <a:spLocks noGrp="1"/>
          </p:cNvSpPr>
          <p:nvPr/>
        </p:nvSpPr>
        <p:spPr>
          <a:xfrm>
            <a:off x="1952625" y="40005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Сервисы не обращаются напрямую к чужим базам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96326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cef942d38_1_142">
            <a:extLst>
              <a:ext uri="{FF2B5EF4-FFF2-40B4-BE49-F238E27FC236}">
                <a16:creationId xmlns:a16="http://schemas.microsoft.com/office/drawing/2014/main" id="{9BFD2107-2DC6-4400-98F0-41BE10EF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sz="3000"/>
              <a:t>Схема мониторинга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/>
          </a:p>
        </p:txBody>
      </p:sp>
      <p:sp>
        <p:nvSpPr>
          <p:cNvPr id="204" name="Google Shape;204;g33cef942d38_1_142">
            <a:extLst>
              <a:ext uri="{FF2B5EF4-FFF2-40B4-BE49-F238E27FC236}">
                <a16:creationId xmlns:a16="http://schemas.microsoft.com/office/drawing/2014/main" id="{CCCD926D-6F4F-48B9-B453-25FA0CBCF6A4}"/>
              </a:ext>
            </a:extLst>
          </p:cNvPr>
          <p:cNvSpPr>
            <a:spLocks noGrp="1"/>
          </p:cNvSpPr>
          <p:nvPr/>
        </p:nvSpPr>
        <p:spPr>
          <a:xfrm>
            <a:off x="5146325" y="1878075"/>
            <a:ext cx="3257100" cy="644700"/>
          </a:xfrm>
          <a:prstGeom prst="wedgeRectCallout">
            <a:avLst>
              <a:gd name="adj1" fmla="val -20075"/>
              <a:gd name="adj2" fmla="val 76031"/>
            </a:avLst>
          </a:prstGeom>
          <a:solidFill>
            <a:srgbClr val="F3F3F3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98000" tIns="126000" rIns="198000" bIns="1260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Prometheus + Grafana • Elasticsearch + Kibana</a:t>
            </a:r>
          </a:p>
        </p:txBody>
      </p:sp>
      <p:sp>
        <p:nvSpPr>
          <p:cNvPr id="205" name="Прямоугольник 204">
            <a:extLst>
              <a:ext uri="{FF2B5EF4-FFF2-40B4-BE49-F238E27FC236}">
                <a16:creationId xmlns:a16="http://schemas.microsoft.com/office/drawing/2014/main" id="{45F18D0C-E4C2-4385-8245-837D90C50183}"/>
              </a:ext>
            </a:extLst>
          </p:cNvPr>
          <p:cNvSpPr>
            <a:spLocks noGrp="1"/>
          </p:cNvSpPr>
          <p:nvPr/>
        </p:nvSpPr>
        <p:spPr>
          <a:xfrm>
            <a:off x="619125" y="1190625"/>
            <a:ext cx="371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E1E1E"/>
                </a:solidFill>
              </a:defRPr>
            </a:pPr>
            <a:r>
              <a:rPr sz="1200" b="1">
                <a:solidFill>
                  <a:srgbClr val="1E1E1E"/>
                </a:solidFill>
              </a:rPr>
              <a:t>Метрики сервисов и PostgreSQL</a:t>
            </a:r>
          </a:p>
        </p:txBody>
      </p:sp>
      <p:sp>
        <p:nvSpPr>
          <p:cNvPr id="206" name="Прямоугольник 205">
            <a:extLst>
              <a:ext uri="{FF2B5EF4-FFF2-40B4-BE49-F238E27FC236}">
                <a16:creationId xmlns:a16="http://schemas.microsoft.com/office/drawing/2014/main" id="{578D5C46-564A-4AA3-A550-E9FD30C12D32}"/>
              </a:ext>
            </a:extLst>
          </p:cNvPr>
          <p:cNvSpPr>
            <a:spLocks noGrp="1"/>
          </p:cNvSpPr>
          <p:nvPr/>
        </p:nvSpPr>
        <p:spPr>
          <a:xfrm>
            <a:off x="4810125" y="1190625"/>
            <a:ext cx="371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E1E1E"/>
                </a:solidFill>
              </a:defRPr>
            </a:pPr>
            <a:r>
              <a:rPr sz="1200" b="1">
                <a:solidFill>
                  <a:srgbClr val="1E1E1E"/>
                </a:solidFill>
              </a:rPr>
              <a:t>Сквозной Request ID и тела HTTP-запросов</a:t>
            </a:r>
          </a:p>
        </p:txBody>
      </p:sp>
      <p:pic>
        <p:nvPicPr>
          <p:cNvPr id="217" name="Рисунок 2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601391"/>
            <a:ext cx="3905250" cy="1854994"/>
          </a:xfrm>
          <a:prstGeom prst="rect">
            <a:avLst/>
          </a:prstGeom>
        </p:spPr>
      </p:pic>
      <p:pic>
        <p:nvPicPr>
          <p:cNvPr id="218" name="Рисунок 2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14875" y="1592238"/>
            <a:ext cx="3905250" cy="1873300"/>
          </a:xfrm>
          <a:prstGeom prst="rect">
            <a:avLst/>
          </a:pr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7DB71076-F271-4192-9149-A372570C93B2}"/>
              </a:ext>
            </a:extLst>
          </p:cNvPr>
          <p:cNvSpPr>
            <a:spLocks noGrp="1"/>
          </p:cNvSpPr>
          <p:nvPr/>
        </p:nvSpPr>
        <p:spPr>
          <a:xfrm>
            <a:off x="809625" y="3762375"/>
            <a:ext cx="3333750" cy="45720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9525">
            <a:solidFill>
              <a:srgbClr val="43A04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E1E1E"/>
                </a:solidFill>
              </a:defRPr>
            </a:pPr>
            <a:r>
              <a:rPr sz="1200" b="1">
                <a:solidFill>
                  <a:srgbClr val="1E1E1E"/>
                </a:solidFill>
              </a:rPr>
              <a:t>ServiceMonitor → Prometheus → Grafana</a:t>
            </a:r>
          </a:p>
        </p:txBody>
      </p:sp>
      <p:sp>
        <p:nvSpPr>
          <p:cNvPr id="210" name="Прямоугольник: скругленные углы 209">
            <a:extLst>
              <a:ext uri="{FF2B5EF4-FFF2-40B4-BE49-F238E27FC236}">
                <a16:creationId xmlns:a16="http://schemas.microsoft.com/office/drawing/2014/main" id="{85E78232-B921-48CC-AC0A-8661933212E6}"/>
              </a:ext>
            </a:extLst>
          </p:cNvPr>
          <p:cNvSpPr>
            <a:spLocks noGrp="1"/>
          </p:cNvSpPr>
          <p:nvPr/>
        </p:nvSpPr>
        <p:spPr>
          <a:xfrm>
            <a:off x="4905375" y="3762375"/>
            <a:ext cx="3524250" cy="457200"/>
          </a:xfrm>
          <a:prstGeom prst="roundRect">
            <a:avLst>
              <a:gd name="adj" fmla="val 12500"/>
            </a:avLst>
          </a:prstGeom>
          <a:solidFill>
            <a:srgbClr val="FFF8E1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E1E1E"/>
                </a:solidFill>
              </a:defRPr>
            </a:pPr>
            <a:r>
              <a:rPr sz="1200" b="1">
                <a:solidFill>
                  <a:srgbClr val="1E1E1E"/>
                </a:solidFill>
              </a:rPr>
              <a:t>Serilog → Filebeat → Elasticsearch → Kibana</a:t>
            </a:r>
          </a:p>
        </p:txBody>
      </p:sp>
    </p:spTree>
    <p:extLst>
      <p:ext uri="{BB962C8B-B14F-4D97-AF65-F5344CB8AC3E}">
        <p14:creationId xmlns:p14="http://schemas.microsoft.com/office/powerpoint/2010/main" val="320227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d2f09e360_0_0">
            <a:extLst>
              <a:ext uri="{FF2B5EF4-FFF2-40B4-BE49-F238E27FC236}">
                <a16:creationId xmlns:a16="http://schemas.microsoft.com/office/drawing/2014/main" id="{DE8D7336-1C27-4E92-8DD2-E6300C1F6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33375"/>
            <a:ext cx="8001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sz="3000"/>
              <a:t>Сложности и способы их решения</a:t>
            </a:r>
          </a:p>
        </p:txBody>
      </p:sp>
      <p:sp>
        <p:nvSpPr>
          <p:cNvPr id="210" name="Прямоугольник: скругленные углы 209">
            <a:extLst>
              <a:ext uri="{FF2B5EF4-FFF2-40B4-BE49-F238E27FC236}">
                <a16:creationId xmlns:a16="http://schemas.microsoft.com/office/drawing/2014/main" id="{E28133E9-F314-4963-8171-3B76EE2086E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2952750" cy="66675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ED1C2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Распределённая транзакция</a:t>
            </a:r>
          </a:p>
        </p:txBody>
      </p:sp>
      <p:sp>
        <p:nvSpPr>
          <p:cNvPr id="211" name="Прямоугольник: скругленные углы 210">
            <a:extLst>
              <a:ext uri="{FF2B5EF4-FFF2-40B4-BE49-F238E27FC236}">
                <a16:creationId xmlns:a16="http://schemas.microsoft.com/office/drawing/2014/main" id="{3654EC22-47B9-455E-880C-47039B2BF506}"/>
              </a:ext>
            </a:extLst>
          </p:cNvPr>
          <p:cNvSpPr>
            <a:spLocks noGrp="1"/>
          </p:cNvSpPr>
          <p:nvPr/>
        </p:nvSpPr>
        <p:spPr>
          <a:xfrm>
            <a:off x="5095875" y="1381125"/>
            <a:ext cx="3429000" cy="66675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43A04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E1E1E"/>
                </a:solidFill>
              </a:defRPr>
            </a:pPr>
            <a:r>
              <a:rPr sz="1275" b="1">
                <a:solidFill>
                  <a:srgbClr val="1E1E1E"/>
                </a:solidFill>
              </a:rPr>
              <a:t>Saga orchestration и компенсации</a:t>
            </a:r>
          </a:p>
        </p:txBody>
      </p:sp>
      <p:cxnSp>
        <p:nvCxnSpPr>
          <p:cNvPr id="232" name="Прямая со стрелкой 231"/>
          <p:cNvCxnSpPr>
            <a:stCxn id="210" idx="3"/>
            <a:endCxn id="211" idx="1"/>
          </p:cNvCxnSpPr>
          <p:nvPr/>
        </p:nvCxnSpPr>
        <p:spPr>
          <a:xfrm>
            <a:off x="3571875" y="1714500"/>
            <a:ext cx="1524000" cy="0"/>
          </a:xfrm>
          <a:prstGeom prst="straightConnector1">
            <a:avLst/>
          </a:prstGeom>
          <a:ln w="28575">
            <a:solidFill>
              <a:srgbClr val="FF8A00"/>
            </a:solidFill>
            <a:prstDash val="solid"/>
            <a:tailEnd type="arrow" w="med" len="med"/>
          </a:ln>
        </p:spPr>
      </p:cxnSp>
      <p:sp>
        <p:nvSpPr>
          <p:cNvPr id="213" name="Прямоугольник: скругленные углы 212">
            <a:extLst>
              <a:ext uri="{FF2B5EF4-FFF2-40B4-BE49-F238E27FC236}">
                <a16:creationId xmlns:a16="http://schemas.microsoft.com/office/drawing/2014/main" id="{8B1ED35A-D218-4E66-9A06-70B6F87F20F8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2952750" cy="66675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ED1C2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Надёжность сообщений</a:t>
            </a:r>
          </a:p>
        </p:txBody>
      </p:sp>
      <p:sp>
        <p:nvSpPr>
          <p:cNvPr id="214" name="Прямоугольник: скругленные углы 213">
            <a:extLst>
              <a:ext uri="{FF2B5EF4-FFF2-40B4-BE49-F238E27FC236}">
                <a16:creationId xmlns:a16="http://schemas.microsoft.com/office/drawing/2014/main" id="{731CBDC1-5689-4153-B44E-60036784F398}"/>
              </a:ext>
            </a:extLst>
          </p:cNvPr>
          <p:cNvSpPr>
            <a:spLocks noGrp="1"/>
          </p:cNvSpPr>
          <p:nvPr/>
        </p:nvSpPr>
        <p:spPr>
          <a:xfrm>
            <a:off x="5095875" y="2381250"/>
            <a:ext cx="3429000" cy="66675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43A04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E1E1E"/>
                </a:solidFill>
              </a:defRPr>
            </a:pPr>
            <a:r>
              <a:rPr sz="1275" b="1">
                <a:solidFill>
                  <a:srgbClr val="1E1E1E"/>
                </a:solidFill>
              </a:rPr>
              <a:t>Transactional Outbox, Inbox и идемпотентность</a:t>
            </a:r>
          </a:p>
        </p:txBody>
      </p:sp>
      <p:cxnSp>
        <p:nvCxnSpPr>
          <p:cNvPr id="235" name="Прямая со стрелкой 234"/>
          <p:cNvCxnSpPr>
            <a:stCxn id="213" idx="3"/>
            <a:endCxn id="214" idx="1"/>
          </p:cNvCxnSpPr>
          <p:nvPr/>
        </p:nvCxnSpPr>
        <p:spPr>
          <a:xfrm>
            <a:off x="3571875" y="2714625"/>
            <a:ext cx="1524000" cy="0"/>
          </a:xfrm>
          <a:prstGeom prst="straightConnector1">
            <a:avLst/>
          </a:prstGeom>
          <a:ln w="28575">
            <a:solidFill>
              <a:srgbClr val="FF8A00"/>
            </a:solidFill>
            <a:prstDash val="solid"/>
            <a:tailEnd type="arrow" w="med" len="med"/>
          </a:ln>
        </p:spPr>
      </p:cxnSp>
      <p:sp>
        <p:nvSpPr>
          <p:cNvPr id="216" name="Прямоугольник: скругленные углы 215">
            <a:extLst>
              <a:ext uri="{FF2B5EF4-FFF2-40B4-BE49-F238E27FC236}">
                <a16:creationId xmlns:a16="http://schemas.microsoft.com/office/drawing/2014/main" id="{7BE45008-22F8-4601-B9A8-756541C84FBE}"/>
              </a:ext>
            </a:extLst>
          </p:cNvPr>
          <p:cNvSpPr>
            <a:spLocks noGrp="1"/>
          </p:cNvSpPr>
          <p:nvPr/>
        </p:nvSpPr>
        <p:spPr>
          <a:xfrm>
            <a:off x="619125" y="3381375"/>
            <a:ext cx="2952750" cy="666750"/>
          </a:xfrm>
          <a:prstGeom prst="roundRect">
            <a:avLst>
              <a:gd name="adj" fmla="val 8571"/>
            </a:avLst>
          </a:prstGeom>
          <a:solidFill>
            <a:srgbClr val="FFEBEE"/>
          </a:solidFill>
          <a:ln w="9525">
            <a:solidFill>
              <a:srgbClr val="ED1C2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E1E1E"/>
                </a:solidFill>
              </a:defRPr>
            </a:pPr>
            <a:r>
              <a:rPr sz="1350" b="1">
                <a:solidFill>
                  <a:srgbClr val="1E1E1E"/>
                </a:solidFill>
              </a:rPr>
              <a:t>Диагностика восьми сервисов</a:t>
            </a:r>
          </a:p>
        </p:txBody>
      </p:sp>
      <p:sp>
        <p:nvSpPr>
          <p:cNvPr id="217" name="Прямоугольник: скругленные углы 216">
            <a:extLst>
              <a:ext uri="{FF2B5EF4-FFF2-40B4-BE49-F238E27FC236}">
                <a16:creationId xmlns:a16="http://schemas.microsoft.com/office/drawing/2014/main" id="{2101C6E9-C296-4CE2-9A9E-6E3F68C5E114}"/>
              </a:ext>
            </a:extLst>
          </p:cNvPr>
          <p:cNvSpPr>
            <a:spLocks noGrp="1"/>
          </p:cNvSpPr>
          <p:nvPr/>
        </p:nvSpPr>
        <p:spPr>
          <a:xfrm>
            <a:off x="5095875" y="3381375"/>
            <a:ext cx="3429000" cy="66675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9525">
            <a:solidFill>
              <a:srgbClr val="43A04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E1E1E"/>
                </a:solidFill>
              </a:defRPr>
            </a:pPr>
            <a:r>
              <a:rPr sz="1275" b="1">
                <a:solidFill>
                  <a:srgbClr val="1E1E1E"/>
                </a:solidFill>
              </a:rPr>
              <a:t>Request ID, Grafana и централизованные логи</a:t>
            </a:r>
          </a:p>
        </p:txBody>
      </p:sp>
      <p:cxnSp>
        <p:nvCxnSpPr>
          <p:cNvPr id="238" name="Прямая со стрелкой 237"/>
          <p:cNvCxnSpPr>
            <a:stCxn id="216" idx="3"/>
            <a:endCxn id="217" idx="1"/>
          </p:cNvCxnSpPr>
          <p:nvPr/>
        </p:nvCxnSpPr>
        <p:spPr>
          <a:xfrm>
            <a:off x="3571875" y="3714750"/>
            <a:ext cx="1524000" cy="0"/>
          </a:xfrm>
          <a:prstGeom prst="straightConnector1">
            <a:avLst/>
          </a:prstGeom>
          <a:ln w="28575">
            <a:solidFill>
              <a:srgbClr val="FF8A00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7316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lide-title">
            <a:extLst>
              <a:ext uri="{FF2B5EF4-FFF2-40B4-BE49-F238E27FC236}">
                <a16:creationId xmlns:a16="http://schemas.microsoft.com/office/drawing/2014/main" id="{396F37DD-EE7D-4F5F-8EAE-BD689E90F9A0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Выводы</a:t>
            </a:r>
          </a:p>
        </p:txBody>
      </p:sp>
      <p:sp>
        <p:nvSpPr>
          <p:cNvPr id="219" name="conclusion-lead">
            <a:extLst>
              <a:ext uri="{FF2B5EF4-FFF2-40B4-BE49-F238E27FC236}">
                <a16:creationId xmlns:a16="http://schemas.microsoft.com/office/drawing/2014/main" id="{88DF0694-D7BB-4C85-8827-A7F0D42710BC}"/>
              </a:ext>
            </a:extLst>
          </p:cNvPr>
          <p:cNvSpPr>
            <a:spLocks noGrp="1"/>
          </p:cNvSpPr>
          <p:nvPr/>
        </p:nvSpPr>
        <p:spPr>
          <a:xfrm>
            <a:off x="619125" y="1190625"/>
            <a:ext cx="7858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E1E1E"/>
                </a:solidFill>
              </a:defRPr>
            </a:pPr>
            <a:r>
              <a:rPr sz="1950" b="1">
                <a:solidFill>
                  <a:srgbClr val="1E1E1E"/>
                </a:solidFill>
              </a:rPr>
              <a:t>Цель достигнута: реализована работоспособная backend-платформа интернет-магазина.</a:t>
            </a:r>
          </a:p>
        </p:txBody>
      </p:sp>
      <p:sp>
        <p:nvSpPr>
          <p:cNvPr id="220" name="conclusion-number-1">
            <a:extLst>
              <a:ext uri="{FF2B5EF4-FFF2-40B4-BE49-F238E27FC236}">
                <a16:creationId xmlns:a16="http://schemas.microsoft.com/office/drawing/2014/main" id="{914A2B0F-5584-4418-8A81-573607B5D37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361950" cy="3619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E1E1E"/>
                </a:solidFill>
              </a:defRPr>
            </a:pPr>
            <a:r>
              <a:rPr sz="150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221" name="conclusion-1">
            <a:extLst>
              <a:ext uri="{FF2B5EF4-FFF2-40B4-BE49-F238E27FC236}">
                <a16:creationId xmlns:a16="http://schemas.microsoft.com/office/drawing/2014/main" id="{75EF0BE9-00F1-4491-A1FA-8CFA15ADF8DE}"/>
              </a:ext>
            </a:extLst>
          </p:cNvPr>
          <p:cNvSpPr>
            <a:spLocks noGrp="1"/>
          </p:cNvSpPr>
          <p:nvPr/>
        </p:nvSpPr>
        <p:spPr>
          <a:xfrm>
            <a:off x="1333500" y="199072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E1E1E"/>
                </a:solidFill>
              </a:defRPr>
            </a:pPr>
            <a:r>
              <a:rPr sz="1575" b="0">
                <a:solidFill>
                  <a:srgbClr val="1E1E1E"/>
                </a:solidFill>
              </a:rPr>
              <a:t>Восемь микросервисов разделены по бизнес-ответственности</a:t>
            </a:r>
          </a:p>
        </p:txBody>
      </p:sp>
      <p:sp>
        <p:nvSpPr>
          <p:cNvPr id="222" name="conclusion-number-2">
            <a:extLst>
              <a:ext uri="{FF2B5EF4-FFF2-40B4-BE49-F238E27FC236}">
                <a16:creationId xmlns:a16="http://schemas.microsoft.com/office/drawing/2014/main" id="{6F537444-B4D9-4916-ABAE-7C11E0012DC5}"/>
              </a:ext>
            </a:extLst>
          </p:cNvPr>
          <p:cNvSpPr>
            <a:spLocks noGrp="1"/>
          </p:cNvSpPr>
          <p:nvPr/>
        </p:nvSpPr>
        <p:spPr>
          <a:xfrm>
            <a:off x="762000" y="2628900"/>
            <a:ext cx="361950" cy="3619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E1E1E"/>
                </a:solidFill>
              </a:defRPr>
            </a:pPr>
            <a:r>
              <a:rPr sz="1500" b="1">
                <a:solidFill>
                  <a:srgbClr val="1E1E1E"/>
                </a:solidFill>
              </a:rPr>
              <a:t>2</a:t>
            </a:r>
          </a:p>
        </p:txBody>
      </p:sp>
      <p:sp>
        <p:nvSpPr>
          <p:cNvPr id="223" name="conclusion-2">
            <a:extLst>
              <a:ext uri="{FF2B5EF4-FFF2-40B4-BE49-F238E27FC236}">
                <a16:creationId xmlns:a16="http://schemas.microsoft.com/office/drawing/2014/main" id="{5D31BAA9-D4CB-42A2-B842-ACB5FDDDCE56}"/>
              </a:ext>
            </a:extLst>
          </p:cNvPr>
          <p:cNvSpPr>
            <a:spLocks noGrp="1"/>
          </p:cNvSpPr>
          <p:nvPr/>
        </p:nvSpPr>
        <p:spPr>
          <a:xfrm>
            <a:off x="1333500" y="261937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E1E1E"/>
                </a:solidFill>
              </a:defRPr>
            </a:pPr>
            <a:r>
              <a:rPr sz="1575" b="0">
                <a:solidFill>
                  <a:srgbClr val="1E1E1E"/>
                </a:solidFill>
              </a:rPr>
              <a:t>Полный путь заказа реализован через Saga с компенсациями</a:t>
            </a:r>
          </a:p>
        </p:txBody>
      </p:sp>
      <p:sp>
        <p:nvSpPr>
          <p:cNvPr id="224" name="conclusion-number-3">
            <a:extLst>
              <a:ext uri="{FF2B5EF4-FFF2-40B4-BE49-F238E27FC236}">
                <a16:creationId xmlns:a16="http://schemas.microsoft.com/office/drawing/2014/main" id="{C51B0368-4F06-421C-B259-B72D8B0DB699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361950" cy="3619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E1E1E"/>
                </a:solidFill>
              </a:defRPr>
            </a:pPr>
            <a:r>
              <a:rPr sz="1500" b="1">
                <a:solidFill>
                  <a:srgbClr val="1E1E1E"/>
                </a:solidFill>
              </a:rPr>
              <a:t>3</a:t>
            </a:r>
          </a:p>
        </p:txBody>
      </p:sp>
      <p:sp>
        <p:nvSpPr>
          <p:cNvPr id="225" name="conclusion-3">
            <a:extLst>
              <a:ext uri="{FF2B5EF4-FFF2-40B4-BE49-F238E27FC236}">
                <a16:creationId xmlns:a16="http://schemas.microsoft.com/office/drawing/2014/main" id="{87010BFC-35C9-4CD3-8129-F0B129A1D7D2}"/>
              </a:ext>
            </a:extLst>
          </p:cNvPr>
          <p:cNvSpPr>
            <a:spLocks noGrp="1"/>
          </p:cNvSpPr>
          <p:nvPr/>
        </p:nvSpPr>
        <p:spPr>
          <a:xfrm>
            <a:off x="1333500" y="324802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E1E1E"/>
                </a:solidFill>
              </a:defRPr>
            </a:pPr>
            <a:r>
              <a:rPr sz="1575" b="0">
                <a:solidFill>
                  <a:srgbClr val="1E1E1E"/>
                </a:solidFill>
              </a:rPr>
              <a:t>Outbox, Inbox и идемпотентность обеспечивают надёжность сообщений</a:t>
            </a:r>
          </a:p>
        </p:txBody>
      </p:sp>
      <p:sp>
        <p:nvSpPr>
          <p:cNvPr id="226" name="conclusion-number-4">
            <a:extLst>
              <a:ext uri="{FF2B5EF4-FFF2-40B4-BE49-F238E27FC236}">
                <a16:creationId xmlns:a16="http://schemas.microsoft.com/office/drawing/2014/main" id="{0DB98791-7AF4-43D7-8AFB-12B81DF01300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361950" cy="3619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E1E1E"/>
                </a:solidFill>
              </a:defRPr>
            </a:pPr>
            <a:r>
              <a:rPr sz="1500" b="1">
                <a:solidFill>
                  <a:srgbClr val="1E1E1E"/>
                </a:solidFill>
              </a:rPr>
              <a:t>4</a:t>
            </a:r>
          </a:p>
        </p:txBody>
      </p:sp>
      <p:sp>
        <p:nvSpPr>
          <p:cNvPr id="227" name="conclusion-4">
            <a:extLst>
              <a:ext uri="{FF2B5EF4-FFF2-40B4-BE49-F238E27FC236}">
                <a16:creationId xmlns:a16="http://schemas.microsoft.com/office/drawing/2014/main" id="{13CBB23D-AF15-4732-8CB5-E0C98E699899}"/>
              </a:ext>
            </a:extLst>
          </p:cNvPr>
          <p:cNvSpPr>
            <a:spLocks noGrp="1"/>
          </p:cNvSpPr>
          <p:nvPr/>
        </p:nvSpPr>
        <p:spPr>
          <a:xfrm>
            <a:off x="1333500" y="387667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E1E1E"/>
                </a:solidFill>
              </a:defRPr>
            </a:pPr>
            <a:r>
              <a:rPr sz="1575" b="0">
                <a:solidFill>
                  <a:srgbClr val="1E1E1E"/>
                </a:solidFill>
              </a:rPr>
              <a:t>Kubernetes, Grafana и ELK обеспечивают развёртывание и наблюдаемость</a:t>
            </a:r>
          </a:p>
        </p:txBody>
      </p:sp>
    </p:spTree>
    <p:extLst>
      <p:ext uri="{BB962C8B-B14F-4D97-AF65-F5344CB8AC3E}">
        <p14:creationId xmlns:p14="http://schemas.microsoft.com/office/powerpoint/2010/main" val="656973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B3CC77E6-29D5-4016-B9E5-644AAF813AE3}"/>
              </a:ext>
            </a:extLst>
          </p:cNvPr>
          <p:cNvSpPr>
            <a:spLocks noGrp="1"/>
          </p:cNvSpPr>
          <p:nvPr/>
        </p:nvSpPr>
        <p:spPr>
          <a:xfrm>
            <a:off x="500539" y="330708"/>
            <a:ext cx="852058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rPr sz="3000">
                <a:solidFill>
                  <a:srgbClr val="000000"/>
                </a:solidFill>
              </a:rPr>
              <a:t>Планы развития</a:t>
            </a:r>
          </a:p>
        </p:txBody>
      </p:sp>
      <p:sp>
        <p:nvSpPr>
          <p:cNvPr id="2" name="plans-lead">
            <a:extLst>
              <a:ext uri="{FF2B5EF4-FFF2-40B4-BE49-F238E27FC236}">
                <a16:creationId xmlns:a16="http://schemas.microsoft.com/office/drawing/2014/main" id="{5B399ACD-86FD-48A6-B035-116F3E0721C0}"/>
              </a:ext>
            </a:extLst>
          </p:cNvPr>
          <p:cNvSpPr>
            <a:spLocks noGrp="1"/>
          </p:cNvSpPr>
          <p:nvPr/>
        </p:nvSpPr>
        <p:spPr>
          <a:xfrm>
            <a:off x="619125" y="1190625"/>
            <a:ext cx="7858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E1E1E"/>
                </a:solidFill>
              </a:defRPr>
            </a:pPr>
            <a:r>
              <a:rPr sz="1950" b="1">
                <a:solidFill>
                  <a:srgbClr val="1E1E1E"/>
                </a:solidFill>
              </a:rPr>
              <a:t>Следующие шаги развития проекта</a:t>
            </a:r>
          </a:p>
        </p:txBody>
      </p:sp>
      <p:sp>
        <p:nvSpPr>
          <p:cNvPr id="3" name="plan-number-1">
            <a:extLst>
              <a:ext uri="{FF2B5EF4-FFF2-40B4-BE49-F238E27FC236}">
                <a16:creationId xmlns:a16="http://schemas.microsoft.com/office/drawing/2014/main" id="{40950269-3DAC-4EBF-93E1-1E63C4FD597D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38150" cy="4381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E1E1E"/>
                </a:solidFill>
              </a:defRPr>
            </a:pPr>
            <a:r>
              <a:rPr sz="1650" b="1">
                <a:solidFill>
                  <a:srgbClr val="1E1E1E"/>
                </a:solidFill>
              </a:rPr>
              <a:t>1</a:t>
            </a:r>
          </a:p>
        </p:txBody>
      </p:sp>
      <p:sp>
        <p:nvSpPr>
          <p:cNvPr id="4" name="plan-1">
            <a:extLst>
              <a:ext uri="{FF2B5EF4-FFF2-40B4-BE49-F238E27FC236}">
                <a16:creationId xmlns:a16="http://schemas.microsoft.com/office/drawing/2014/main" id="{AEA7851C-0E29-4B67-81D8-234F8AD92CCA}"/>
              </a:ext>
            </a:extLst>
          </p:cNvPr>
          <p:cNvSpPr>
            <a:spLocks noGrp="1"/>
          </p:cNvSpPr>
          <p:nvPr/>
        </p:nvSpPr>
        <p:spPr>
          <a:xfrm>
            <a:off x="1476375" y="1933575"/>
            <a:ext cx="6715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E1E1E"/>
                </a:solidFill>
              </a:defRPr>
            </a:pPr>
            <a:r>
              <a:rPr sz="1725" b="1">
                <a:solidFill>
                  <a:srgbClr val="1E1E1E"/>
                </a:solidFill>
              </a:rPr>
              <a:t>Разработать frontend для покупателя и администратора</a:t>
            </a:r>
          </a:p>
        </p:txBody>
      </p:sp>
      <p:sp>
        <p:nvSpPr>
          <p:cNvPr id="5" name="plan-divider-1">
            <a:extLst>
              <a:ext uri="{FF2B5EF4-FFF2-40B4-BE49-F238E27FC236}">
                <a16:creationId xmlns:a16="http://schemas.microsoft.com/office/drawing/2014/main" id="{03E219FA-8030-44CC-A64C-CDC54B9CC3D7}"/>
              </a:ext>
            </a:extLst>
          </p:cNvPr>
          <p:cNvSpPr>
            <a:spLocks noGrp="1"/>
          </p:cNvSpPr>
          <p:nvPr/>
        </p:nvSpPr>
        <p:spPr>
          <a:xfrm>
            <a:off x="1476375" y="2581275"/>
            <a:ext cx="6715125" cy="19050"/>
          </a:xfrm>
          <a:prstGeom prst="rect">
            <a:avLst/>
          </a:prstGeom>
          <a:solidFill>
            <a:srgbClr val="E6E6E6"/>
          </a:solidFill>
          <a:ln w="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plan-number-2">
            <a:extLst>
              <a:ext uri="{FF2B5EF4-FFF2-40B4-BE49-F238E27FC236}">
                <a16:creationId xmlns:a16="http://schemas.microsoft.com/office/drawing/2014/main" id="{C80BD988-B3AB-4B99-97DC-55E3E6B01F0B}"/>
              </a:ext>
            </a:extLst>
          </p:cNvPr>
          <p:cNvSpPr>
            <a:spLocks noGrp="1"/>
          </p:cNvSpPr>
          <p:nvPr/>
        </p:nvSpPr>
        <p:spPr>
          <a:xfrm>
            <a:off x="762000" y="2828925"/>
            <a:ext cx="438150" cy="4381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E1E1E"/>
                </a:solidFill>
              </a:defRPr>
            </a:pPr>
            <a:r>
              <a:rPr sz="1650" b="1">
                <a:solidFill>
                  <a:srgbClr val="1E1E1E"/>
                </a:solidFill>
              </a:rPr>
              <a:t>2</a:t>
            </a:r>
          </a:p>
        </p:txBody>
      </p:sp>
      <p:sp>
        <p:nvSpPr>
          <p:cNvPr id="7" name="plan-2">
            <a:extLst>
              <a:ext uri="{FF2B5EF4-FFF2-40B4-BE49-F238E27FC236}">
                <a16:creationId xmlns:a16="http://schemas.microsoft.com/office/drawing/2014/main" id="{075497E0-7C6E-4DD3-B5B4-D04886788B25}"/>
              </a:ext>
            </a:extLst>
          </p:cNvPr>
          <p:cNvSpPr>
            <a:spLocks noGrp="1"/>
          </p:cNvSpPr>
          <p:nvPr/>
        </p:nvSpPr>
        <p:spPr>
          <a:xfrm>
            <a:off x="1476375" y="2809875"/>
            <a:ext cx="6715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E1E1E"/>
                </a:solidFill>
              </a:defRPr>
            </a:pPr>
            <a:r>
              <a:rPr sz="1725" b="1">
                <a:solidFill>
                  <a:srgbClr val="1E1E1E"/>
                </a:solidFill>
              </a:rPr>
              <a:t>Добавить сервис аналитики на основе событий Kafka</a:t>
            </a:r>
          </a:p>
        </p:txBody>
      </p:sp>
      <p:sp>
        <p:nvSpPr>
          <p:cNvPr id="8" name="plan-divider-2">
            <a:extLst>
              <a:ext uri="{FF2B5EF4-FFF2-40B4-BE49-F238E27FC236}">
                <a16:creationId xmlns:a16="http://schemas.microsoft.com/office/drawing/2014/main" id="{701B43FD-8D6A-43D8-B2AF-5BC357932B92}"/>
              </a:ext>
            </a:extLst>
          </p:cNvPr>
          <p:cNvSpPr>
            <a:spLocks noGrp="1"/>
          </p:cNvSpPr>
          <p:nvPr/>
        </p:nvSpPr>
        <p:spPr>
          <a:xfrm>
            <a:off x="1476375" y="3457575"/>
            <a:ext cx="6715125" cy="19050"/>
          </a:xfrm>
          <a:prstGeom prst="rect">
            <a:avLst/>
          </a:prstGeom>
          <a:solidFill>
            <a:srgbClr val="E6E6E6"/>
          </a:solidFill>
          <a:ln w="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plan-number-3">
            <a:extLst>
              <a:ext uri="{FF2B5EF4-FFF2-40B4-BE49-F238E27FC236}">
                <a16:creationId xmlns:a16="http://schemas.microsoft.com/office/drawing/2014/main" id="{574BC9F4-9599-4D06-9DE2-F6B984865BB0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438150" cy="438150"/>
          </a:xfrm>
          <a:prstGeom prst="ellipse">
            <a:avLst/>
          </a:prstGeom>
          <a:solidFill>
            <a:srgbClr val="FFD54F"/>
          </a:solidFill>
          <a:ln w="9525">
            <a:solidFill>
              <a:srgbClr val="FF8A00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E1E1E"/>
                </a:solidFill>
              </a:defRPr>
            </a:pPr>
            <a:r>
              <a:rPr sz="1650" b="1">
                <a:solidFill>
                  <a:srgbClr val="1E1E1E"/>
                </a:solidFill>
              </a:rPr>
              <a:t>3</a:t>
            </a:r>
          </a:p>
        </p:txBody>
      </p:sp>
      <p:sp>
        <p:nvSpPr>
          <p:cNvPr id="10" name="plan-3">
            <a:extLst>
              <a:ext uri="{FF2B5EF4-FFF2-40B4-BE49-F238E27FC236}">
                <a16:creationId xmlns:a16="http://schemas.microsoft.com/office/drawing/2014/main" id="{D1BEF7B1-C414-4B41-8245-2CED142B903D}"/>
              </a:ext>
            </a:extLst>
          </p:cNvPr>
          <p:cNvSpPr>
            <a:spLocks noGrp="1"/>
          </p:cNvSpPr>
          <p:nvPr/>
        </p:nvSpPr>
        <p:spPr>
          <a:xfrm>
            <a:off x="1476375" y="3686175"/>
            <a:ext cx="6715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E1E1E"/>
                </a:solidFill>
              </a:defRPr>
            </a:pPr>
            <a:r>
              <a:rPr sz="1725" b="1">
                <a:solidFill>
                  <a:srgbClr val="1E1E1E"/>
                </a:solidFill>
              </a:rPr>
              <a:t>Реализовать полный CQRS в Catalog: разделить модели записи и чтения</a:t>
            </a:r>
          </a:p>
        </p:txBody>
      </p:sp>
    </p:spTree>
    <p:extLst>
      <p:ext uri="{BB962C8B-B14F-4D97-AF65-F5344CB8AC3E}">
        <p14:creationId xmlns:p14="http://schemas.microsoft.com/office/powerpoint/2010/main" val="351381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>
            <a:extLst>
              <a:ext uri="{FF2B5EF4-FFF2-40B4-BE49-F238E27FC236}">
                <a16:creationId xmlns:a16="http://schemas.microsoft.com/office/drawing/2014/main" id="{C1E6A4F1-8F5F-42FA-B822-4EF130C0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4900"/>
              <a:t>Спасибо за внимание!</a:t>
            </a:r>
            <a:br/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604972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DocSecurity>0</DocSecurity>
  <PresentationFormat>Экран (16:9)</PresentationFormat>
  <Paragraphs>149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Roboto</vt:lpstr>
      <vt:lpstr>Courier New</vt:lpstr>
      <vt:lpstr>Arial</vt:lpstr>
      <vt:lpstr>Светлая тема</vt:lpstr>
      <vt:lpstr>Светлая тема</vt:lpstr>
      <vt:lpstr>Онлайн-магазин
с использованием
микросервисной архитектуры Выпускной проект  </vt:lpstr>
      <vt:lpstr>Меня хорошо видно &amp; слышно?</vt:lpstr>
      <vt:lpstr>Защита проекта Тема: Онлайн-магазин с использованием
микросервисной архитектуры  </vt:lpstr>
      <vt:lpstr>План защиты </vt:lpstr>
      <vt:lpstr>Презентация PowerPoint</vt:lpstr>
      <vt:lpstr>Используемые технологии и паттерны  </vt:lpstr>
      <vt:lpstr>Диаграмма развертывания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Описание межсервисного взаимодействия   </vt:lpstr>
      <vt:lpstr>Схема хранения данных   </vt:lpstr>
      <vt:lpstr>Схема мониторинга   </vt:lpstr>
      <vt:lpstr>Сложности и способы их решения</vt:lpstr>
      <vt:lpstr>Презентация PowerPoint</vt:lpstr>
      <vt:lpstr>Презентация PowerPoint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Павел Маслов</cp:lastModifiedBy>
  <cp:revision>1</cp:revision>
  <dcterms:created xsi:type="dcterms:W3CDTF">2026-07-31T09:45:57Z</dcterms:created>
  <dcterms:modified xsi:type="dcterms:W3CDTF">2026-07-31T09:49:17Z</dcterms:modified>
</cp:coreProperties>
</file>