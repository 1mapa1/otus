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  <p:sldMasterId id="2147483663" r:id="rId2"/>
  </p:sldMasterIdLst>
  <p:notesMasterIdLst>
    <p:notesMasterId r:id="rId2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7" r:id="rId10"/>
    <p:sldId id="268" r:id="rId11"/>
    <p:sldId id="263" r:id="rId12"/>
    <p:sldId id="264" r:id="rId13"/>
    <p:sldId id="265" r:id="rId14"/>
    <p:sldId id="266" r:id="rId15"/>
    <p:sldId id="269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3"/>
      <p:bold r:id="rId24"/>
      <p:italic r:id="rId25"/>
      <p:boldItalic r:id="rId26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79F2DDD-858B-4C48-8312-BD252F341D8D}">
  <a:tblStyle styleId="{179F2DDD-858B-4C48-8312-BD252F341D8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4.fntdata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3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2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1.fntdata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Проектная работа/README.md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Шаблон защиты проекта OTUS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Фотография предоставлена автором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Проектная работа/README.md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Проектная работа/Postman/Main/README.md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Проектная работа/Архитектура/README.md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Проектная работа/Архитектура/C4/.structurizr/1/images/PlatformOverview-thumbnail-dark.png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Проектная работа/Архитектура/Sequence/Order Saga Success.md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Проектная работа/Архитектура/MS/AuthMs.md; Проектная работа/Архитектура/ApiGateway.md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Проектная работа/Архитектура/README.md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Проектная работа/Postman/Observability/README.md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Проектная работа/Архитектура/README.md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Проектная работа/README.md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Шаблон защиты проекта OTUS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0;p20"/>
          <p:cNvPicPr>
            <a:picLocks noChangeAspect="1"/>
          </p:cNvPicPr>
          <p:nvPr/>
        </p:nvPicPr>
        <p:blipFill rotWithShape="1">
          <a:blip r:embed="rId2">
            <a:alphaModFix/>
          </a:blip>
          <a:srcRect l="99" r="98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ln>
            <a:noFill/>
          </a:ln>
        </p:spPr>
      </p:pic>
      <p:sp>
        <p:nvSpPr>
          <p:cNvPr id="11" name="Google Shape;11;p20">
            <a:extLst>
              <a:ext uri="{FF2B5EF4-FFF2-40B4-BE49-F238E27FC236}">
                <a16:creationId xmlns:a16="http://schemas.microsoft.com/office/drawing/2014/main" id="{D4ADFA8C-DC41-4C8E-A153-C328D12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0">
            <a:extLst>
              <a:ext uri="{FF2B5EF4-FFF2-40B4-BE49-F238E27FC236}">
                <a16:creationId xmlns:a16="http://schemas.microsoft.com/office/drawing/2014/main" id="{57EC00AF-9910-438A-8609-A1B131C13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1">
            <a:extLst>
              <a:ext uri="{FF2B5EF4-FFF2-40B4-BE49-F238E27FC236}">
                <a16:creationId xmlns:a16="http://schemas.microsoft.com/office/drawing/2014/main" id="{216C5C99-3817-42C7-8615-2FF3349A8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21">
            <a:extLst>
              <a:ext uri="{FF2B5EF4-FFF2-40B4-BE49-F238E27FC236}">
                <a16:creationId xmlns:a16="http://schemas.microsoft.com/office/drawing/2014/main" id="{CB9E5947-E9FA-47E4-958B-2636B69C0A8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2">
            <a:extLst>
              <a:ext uri="{FF2B5EF4-FFF2-40B4-BE49-F238E27FC236}">
                <a16:creationId xmlns:a16="http://schemas.microsoft.com/office/drawing/2014/main" id="{57162D29-353E-4BC8-8F93-37EDB3D3D99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8" name="Google Shape;18;p22">
            <a:extLst>
              <a:ext uri="{FF2B5EF4-FFF2-40B4-BE49-F238E27FC236}">
                <a16:creationId xmlns:a16="http://schemas.microsoft.com/office/drawing/2014/main" id="{6887BCED-7969-4A4C-84AE-3E4CF5E9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2">
            <a:extLst>
              <a:ext uri="{FF2B5EF4-FFF2-40B4-BE49-F238E27FC236}">
                <a16:creationId xmlns:a16="http://schemas.microsoft.com/office/drawing/2014/main" id="{1781A09C-52A2-460A-B596-F9C7C35209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22">
            <a:extLst>
              <a:ext uri="{FF2B5EF4-FFF2-40B4-BE49-F238E27FC236}">
                <a16:creationId xmlns:a16="http://schemas.microsoft.com/office/drawing/2014/main" id="{FEB03243-50D2-49F1-AB44-BCFFA5853DDA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22">
            <a:extLst>
              <a:ext uri="{FF2B5EF4-FFF2-40B4-BE49-F238E27FC236}">
                <a16:creationId xmlns:a16="http://schemas.microsoft.com/office/drawing/2014/main" id="{3A21E27E-6FB5-4F57-AA8B-47E6B6606860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22">
            <a:extLst>
              <a:ext uri="{FF2B5EF4-FFF2-40B4-BE49-F238E27FC236}">
                <a16:creationId xmlns:a16="http://schemas.microsoft.com/office/drawing/2014/main" id="{DA746A45-87A6-46AC-9AE7-6A9A3C4C54A4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3">
            <a:extLst>
              <a:ext uri="{FF2B5EF4-FFF2-40B4-BE49-F238E27FC236}">
                <a16:creationId xmlns:a16="http://schemas.microsoft.com/office/drawing/2014/main" id="{E8EC2C8F-7DFB-4B75-A66E-72CEDCC23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4">
            <a:extLst>
              <a:ext uri="{FF2B5EF4-FFF2-40B4-BE49-F238E27FC236}">
                <a16:creationId xmlns:a16="http://schemas.microsoft.com/office/drawing/2014/main" id="{CBBF8BBD-0272-47C0-BB1D-7F068AA60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>
            <a:extLst>
              <a:ext uri="{FF2B5EF4-FFF2-40B4-BE49-F238E27FC236}">
                <a16:creationId xmlns:a16="http://schemas.microsoft.com/office/drawing/2014/main" id="{6532C7D3-693F-42D6-A370-DFA9104D3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238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8" name="Google Shape;28;p24">
            <a:extLst>
              <a:ext uri="{FF2B5EF4-FFF2-40B4-BE49-F238E27FC236}">
                <a16:creationId xmlns:a16="http://schemas.microsoft.com/office/drawing/2014/main" id="{D8C9B488-5B2D-48F7-8BF3-97311F59B45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>
            <a:extLst>
              <a:ext uri="{FF2B5EF4-FFF2-40B4-BE49-F238E27FC236}">
                <a16:creationId xmlns:a16="http://schemas.microsoft.com/office/drawing/2014/main" id="{382BEDB4-1599-4511-B7E2-D21A43C57AA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35" name="Google Shape;31;p25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sp>
        <p:nvSpPr>
          <p:cNvPr id="32" name="Google Shape;32;p25">
            <a:extLst>
              <a:ext uri="{FF2B5EF4-FFF2-40B4-BE49-F238E27FC236}">
                <a16:creationId xmlns:a16="http://schemas.microsoft.com/office/drawing/2014/main" id="{F3E3E7F5-22B5-46CA-8805-E86476564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6">
            <a:extLst>
              <a:ext uri="{FF2B5EF4-FFF2-40B4-BE49-F238E27FC236}">
                <a16:creationId xmlns:a16="http://schemas.microsoft.com/office/drawing/2014/main" id="{AE7BFF5B-225C-4B30-AA1A-B6A69EBDBB4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7">
            <a:extLst>
              <a:ext uri="{FF2B5EF4-FFF2-40B4-BE49-F238E27FC236}">
                <a16:creationId xmlns:a16="http://schemas.microsoft.com/office/drawing/2014/main" id="{EE92A2AE-FBA7-4FB6-82DB-2C7C1FE6E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8">
            <a:extLst>
              <a:ext uri="{FF2B5EF4-FFF2-40B4-BE49-F238E27FC236}">
                <a16:creationId xmlns:a16="http://schemas.microsoft.com/office/drawing/2014/main" id="{BE14586F-3F08-4FD0-BA33-75C0B32DE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8">
            <a:extLst>
              <a:ext uri="{FF2B5EF4-FFF2-40B4-BE49-F238E27FC236}">
                <a16:creationId xmlns:a16="http://schemas.microsoft.com/office/drawing/2014/main" id="{293DF676-8D04-446E-B3A9-015AF6F43F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28">
            <a:extLst>
              <a:ext uri="{FF2B5EF4-FFF2-40B4-BE49-F238E27FC236}">
                <a16:creationId xmlns:a16="http://schemas.microsoft.com/office/drawing/2014/main" id="{6F6E6546-B952-4ADE-AA5C-68BCC789CFA0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9">
            <a:extLst>
              <a:ext uri="{FF2B5EF4-FFF2-40B4-BE49-F238E27FC236}">
                <a16:creationId xmlns:a16="http://schemas.microsoft.com/office/drawing/2014/main" id="{D1CC9273-2B5E-47EC-A0FF-D18FA67B14F4}"/>
              </a:ext>
            </a:extLst>
          </p:cNvPr>
          <p:cNvSpPr>
            <a:spLocks noGrp="1"/>
          </p:cNvSpPr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43" name="Google Shape;43;p29">
            <a:extLst>
              <a:ext uri="{FF2B5EF4-FFF2-40B4-BE49-F238E27FC236}">
                <a16:creationId xmlns:a16="http://schemas.microsoft.com/office/drawing/2014/main" id="{C7D5FDBB-1B49-40A4-8EE5-0A07979A2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4" name="Google Shape;44;p29">
            <a:extLst>
              <a:ext uri="{FF2B5EF4-FFF2-40B4-BE49-F238E27FC236}">
                <a16:creationId xmlns:a16="http://schemas.microsoft.com/office/drawing/2014/main" id="{5A43E59B-FBA1-429F-BD38-01F8DE946B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5" name="Google Shape;45;p29">
            <a:extLst>
              <a:ext uri="{FF2B5EF4-FFF2-40B4-BE49-F238E27FC236}">
                <a16:creationId xmlns:a16="http://schemas.microsoft.com/office/drawing/2014/main" id="{1ADB0AE1-1D7A-4840-AC0C-55AD2F8028D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457200" indent="-3365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indent="-3238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6" name="Google Shape;46;p29">
            <a:extLst>
              <a:ext uri="{FF2B5EF4-FFF2-40B4-BE49-F238E27FC236}">
                <a16:creationId xmlns:a16="http://schemas.microsoft.com/office/drawing/2014/main" id="{7B4D6C2F-A8A6-4AE1-AA18-B4FF9444ECA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0">
            <a:extLst>
              <a:ext uri="{FF2B5EF4-FFF2-40B4-BE49-F238E27FC236}">
                <a16:creationId xmlns:a16="http://schemas.microsoft.com/office/drawing/2014/main" id="{EB1D52A3-041A-41EA-B926-8F838BB25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0">
            <a:extLst>
              <a:ext uri="{FF2B5EF4-FFF2-40B4-BE49-F238E27FC236}">
                <a16:creationId xmlns:a16="http://schemas.microsoft.com/office/drawing/2014/main" id="{FD5D876B-54A7-4424-9BAB-1E34C27A319B}"/>
              </a:ext>
            </a:extLst>
          </p:cNvPr>
          <p:cNvSpPr>
            <a:spLocks noGrp="1"/>
          </p:cNvSpPr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0" name="Google Shape;50;p30">
            <a:extLst>
              <a:ext uri="{FF2B5EF4-FFF2-40B4-BE49-F238E27FC236}">
                <a16:creationId xmlns:a16="http://schemas.microsoft.com/office/drawing/2014/main" id="{4411060E-8255-4202-A64D-435E064168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</a:defRPr>
            </a:lvl1pPr>
            <a:lvl2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1">
            <a:extLst>
              <a:ext uri="{FF2B5EF4-FFF2-40B4-BE49-F238E27FC236}">
                <a16:creationId xmlns:a16="http://schemas.microsoft.com/office/drawing/2014/main" id="{100E7A3E-0363-4771-B2F2-ABB25CD3E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1">
            <a:extLst>
              <a:ext uri="{FF2B5EF4-FFF2-40B4-BE49-F238E27FC236}">
                <a16:creationId xmlns:a16="http://schemas.microsoft.com/office/drawing/2014/main" id="{F16D539B-0230-4A69-A796-6AFC48DBF9D9}"/>
              </a:ext>
            </a:extLst>
          </p:cNvPr>
          <p:cNvSpPr>
            <a:spLocks noGrp="1"/>
          </p:cNvSpPr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4" name="Google Shape;54;p31">
            <a:extLst>
              <a:ext uri="{FF2B5EF4-FFF2-40B4-BE49-F238E27FC236}">
                <a16:creationId xmlns:a16="http://schemas.microsoft.com/office/drawing/2014/main" id="{5C1F176D-6C38-4D0E-902D-772C9AACA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</a:defRPr>
            </a:lvl1pPr>
            <a:lvl2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2">
            <a:extLst>
              <a:ext uri="{FF2B5EF4-FFF2-40B4-BE49-F238E27FC236}">
                <a16:creationId xmlns:a16="http://schemas.microsoft.com/office/drawing/2014/main" id="{87B1E6F8-4CEC-4193-ADF4-B07E6E3D8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2">
            <a:extLst>
              <a:ext uri="{FF2B5EF4-FFF2-40B4-BE49-F238E27FC236}">
                <a16:creationId xmlns:a16="http://schemas.microsoft.com/office/drawing/2014/main" id="{ED1F8D91-E6AE-4A94-8A0D-DBBC7C33A1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32">
            <a:extLst>
              <a:ext uri="{FF2B5EF4-FFF2-40B4-BE49-F238E27FC236}">
                <a16:creationId xmlns:a16="http://schemas.microsoft.com/office/drawing/2014/main" id="{8D02152E-8E45-4458-8A8B-95A2D4622191}"/>
              </a:ext>
            </a:extLst>
          </p:cNvPr>
          <p:cNvSpPr>
            <a:spLocks noGrp="1"/>
          </p:cNvSpPr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9" name="Google Shape;59;p32">
            <a:extLst>
              <a:ext uri="{FF2B5EF4-FFF2-40B4-BE49-F238E27FC236}">
                <a16:creationId xmlns:a16="http://schemas.microsoft.com/office/drawing/2014/main" id="{5793FC43-77C0-472A-A9AF-80D277CD9663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3">
            <a:extLst>
              <a:ext uri="{FF2B5EF4-FFF2-40B4-BE49-F238E27FC236}">
                <a16:creationId xmlns:a16="http://schemas.microsoft.com/office/drawing/2014/main" id="{702982B9-3B27-4EEE-BBB1-4799E8D5F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3">
            <a:extLst>
              <a:ext uri="{FF2B5EF4-FFF2-40B4-BE49-F238E27FC236}">
                <a16:creationId xmlns:a16="http://schemas.microsoft.com/office/drawing/2014/main" id="{2FD3C8ED-3383-4BCA-9C7E-D465EC755534}"/>
              </a:ext>
            </a:extLst>
          </p:cNvPr>
          <p:cNvSpPr>
            <a:spLocks noGrp="1"/>
          </p:cNvSpPr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3" name="Google Shape;63;p33">
            <a:extLst>
              <a:ext uri="{FF2B5EF4-FFF2-40B4-BE49-F238E27FC236}">
                <a16:creationId xmlns:a16="http://schemas.microsoft.com/office/drawing/2014/main" id="{6FFA6CB9-42D1-4D7C-AAF7-A67738D6B4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3">
            <a:extLst>
              <a:ext uri="{FF2B5EF4-FFF2-40B4-BE49-F238E27FC236}">
                <a16:creationId xmlns:a16="http://schemas.microsoft.com/office/drawing/2014/main" id="{59E6A58F-8494-4452-B278-2F9E1321DD79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0;g33cef942d38_1_78"/>
          <p:cNvPicPr>
            <a:picLocks noChangeAspect="1"/>
          </p:cNvPicPr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ln>
            <a:noFill/>
          </a:ln>
        </p:spPr>
      </p:pic>
      <p:sp>
        <p:nvSpPr>
          <p:cNvPr id="71" name="Google Shape;71;g33cef942d38_1_78">
            <a:extLst>
              <a:ext uri="{FF2B5EF4-FFF2-40B4-BE49-F238E27FC236}">
                <a16:creationId xmlns:a16="http://schemas.microsoft.com/office/drawing/2014/main" id="{0D7EA885-F469-4EFA-9471-2C4AA83CD8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72" name="Google Shape;72;g33cef942d38_1_78">
            <a:extLst>
              <a:ext uri="{FF2B5EF4-FFF2-40B4-BE49-F238E27FC236}">
                <a16:creationId xmlns:a16="http://schemas.microsoft.com/office/drawing/2014/main" id="{1FB34F44-FB95-46C3-82C5-F4B21E702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3cef942d38_1_82">
            <a:extLst>
              <a:ext uri="{FF2B5EF4-FFF2-40B4-BE49-F238E27FC236}">
                <a16:creationId xmlns:a16="http://schemas.microsoft.com/office/drawing/2014/main" id="{5115777D-CAA7-403D-BDA7-324BEDECF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5" name="Google Shape;75;g33cef942d38_1_82">
            <a:extLst>
              <a:ext uri="{FF2B5EF4-FFF2-40B4-BE49-F238E27FC236}">
                <a16:creationId xmlns:a16="http://schemas.microsoft.com/office/drawing/2014/main" id="{0FB1AE07-7A27-4695-8A77-28D2C226D66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3cef942d38_1_85">
            <a:extLst>
              <a:ext uri="{FF2B5EF4-FFF2-40B4-BE49-F238E27FC236}">
                <a16:creationId xmlns:a16="http://schemas.microsoft.com/office/drawing/2014/main" id="{DD902CF5-AA6F-45B3-9781-0AB439D24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3cef942d38_1_87">
            <a:extLst>
              <a:ext uri="{FF2B5EF4-FFF2-40B4-BE49-F238E27FC236}">
                <a16:creationId xmlns:a16="http://schemas.microsoft.com/office/drawing/2014/main" id="{10F57B33-3E38-4761-96D0-6ED2BED72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g33cef942d38_1_87">
            <a:extLst>
              <a:ext uri="{FF2B5EF4-FFF2-40B4-BE49-F238E27FC236}">
                <a16:creationId xmlns:a16="http://schemas.microsoft.com/office/drawing/2014/main" id="{60AA507C-E1A6-4ABA-98DC-01B01FCDBE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 marL="457200" indent="-3238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81" name="Google Shape;81;g33cef942d38_1_87">
            <a:extLst>
              <a:ext uri="{FF2B5EF4-FFF2-40B4-BE49-F238E27FC236}">
                <a16:creationId xmlns:a16="http://schemas.microsoft.com/office/drawing/2014/main" id="{9A8C18EE-379B-439D-984D-7C7CFB0E37B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3cef942d38_1_91">
            <a:extLst>
              <a:ext uri="{FF2B5EF4-FFF2-40B4-BE49-F238E27FC236}">
                <a16:creationId xmlns:a16="http://schemas.microsoft.com/office/drawing/2014/main" id="{39A02881-701B-46E0-945D-9B8DB764E8F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84" name="Google Shape;84;g33cef942d38_1_91">
            <a:extLst>
              <a:ext uri="{FF2B5EF4-FFF2-40B4-BE49-F238E27FC236}">
                <a16:creationId xmlns:a16="http://schemas.microsoft.com/office/drawing/2014/main" id="{C2FAC62D-72C3-4A11-BE54-BE5D11DEF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g33cef942d38_1_91">
            <a:extLst>
              <a:ext uri="{FF2B5EF4-FFF2-40B4-BE49-F238E27FC236}">
                <a16:creationId xmlns:a16="http://schemas.microsoft.com/office/drawing/2014/main" id="{666AB5E8-088D-4470-BF01-E5B60A618D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g33cef942d38_1_91">
            <a:extLst>
              <a:ext uri="{FF2B5EF4-FFF2-40B4-BE49-F238E27FC236}">
                <a16:creationId xmlns:a16="http://schemas.microsoft.com/office/drawing/2014/main" id="{0047E18C-86F1-40F8-8075-438A90656AF3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g33cef942d38_1_91">
            <a:extLst>
              <a:ext uri="{FF2B5EF4-FFF2-40B4-BE49-F238E27FC236}">
                <a16:creationId xmlns:a16="http://schemas.microsoft.com/office/drawing/2014/main" id="{0DF0882F-7FB0-43B9-BB70-211B36C8EAB5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" name="Google Shape;88;g33cef942d38_1_91">
            <a:extLst>
              <a:ext uri="{FF2B5EF4-FFF2-40B4-BE49-F238E27FC236}">
                <a16:creationId xmlns:a16="http://schemas.microsoft.com/office/drawing/2014/main" id="{6BC3A5BE-C405-4BE1-9931-CD16C665C405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3cef942d38_1_98">
            <a:extLst>
              <a:ext uri="{FF2B5EF4-FFF2-40B4-BE49-F238E27FC236}">
                <a16:creationId xmlns:a16="http://schemas.microsoft.com/office/drawing/2014/main" id="{599E8B77-6603-4035-8C20-FA71E719726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95" name="Google Shape;91;g33cef942d38_1_98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sp>
        <p:nvSpPr>
          <p:cNvPr id="92" name="Google Shape;92;g33cef942d38_1_98">
            <a:extLst>
              <a:ext uri="{FF2B5EF4-FFF2-40B4-BE49-F238E27FC236}">
                <a16:creationId xmlns:a16="http://schemas.microsoft.com/office/drawing/2014/main" id="{611C2E30-1E44-482D-B93B-BB5DAB9B1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3cef942d38_1_102">
            <a:extLst>
              <a:ext uri="{FF2B5EF4-FFF2-40B4-BE49-F238E27FC236}">
                <a16:creationId xmlns:a16="http://schemas.microsoft.com/office/drawing/2014/main" id="{AC3153F8-86A6-4743-8ED0-F5CF7F675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g33cef942d38_1_102">
            <a:extLst>
              <a:ext uri="{FF2B5EF4-FFF2-40B4-BE49-F238E27FC236}">
                <a16:creationId xmlns:a16="http://schemas.microsoft.com/office/drawing/2014/main" id="{9C2F48B1-4041-458B-918E-34DD495152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g33cef942d38_1_102">
            <a:extLst>
              <a:ext uri="{FF2B5EF4-FFF2-40B4-BE49-F238E27FC236}">
                <a16:creationId xmlns:a16="http://schemas.microsoft.com/office/drawing/2014/main" id="{78519F0A-4081-4818-8314-9ECDB70FD85A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3cef942d38_1_106">
            <a:extLst>
              <a:ext uri="{FF2B5EF4-FFF2-40B4-BE49-F238E27FC236}">
                <a16:creationId xmlns:a16="http://schemas.microsoft.com/office/drawing/2014/main" id="{86C14F67-5F6B-41AA-BA3B-C695385B50DA}"/>
              </a:ext>
            </a:extLst>
          </p:cNvPr>
          <p:cNvSpPr>
            <a:spLocks noGrp="1"/>
          </p:cNvSpPr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3cef942d38_1_106">
            <a:extLst>
              <a:ext uri="{FF2B5EF4-FFF2-40B4-BE49-F238E27FC236}">
                <a16:creationId xmlns:a16="http://schemas.microsoft.com/office/drawing/2014/main" id="{2E1BC760-4FD0-48D9-80B0-AD1854494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00" name="Google Shape;100;g33cef942d38_1_106">
            <a:extLst>
              <a:ext uri="{FF2B5EF4-FFF2-40B4-BE49-F238E27FC236}">
                <a16:creationId xmlns:a16="http://schemas.microsoft.com/office/drawing/2014/main" id="{A8F5D27C-1B8A-42F2-B862-85D2654C61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01" name="Google Shape;101;g33cef942d38_1_106">
            <a:extLst>
              <a:ext uri="{FF2B5EF4-FFF2-40B4-BE49-F238E27FC236}">
                <a16:creationId xmlns:a16="http://schemas.microsoft.com/office/drawing/2014/main" id="{3A2A66B3-76A6-41A7-9BBB-C1A74AC1814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 marL="45720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02" name="Google Shape;102;g33cef942d38_1_106">
            <a:extLst>
              <a:ext uri="{FF2B5EF4-FFF2-40B4-BE49-F238E27FC236}">
                <a16:creationId xmlns:a16="http://schemas.microsoft.com/office/drawing/2014/main" id="{C353C4C5-260E-45EA-910D-2FA86ADCFF5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3cef942d38_1_112">
            <a:extLst>
              <a:ext uri="{FF2B5EF4-FFF2-40B4-BE49-F238E27FC236}">
                <a16:creationId xmlns:a16="http://schemas.microsoft.com/office/drawing/2014/main" id="{A178513F-14FA-478B-B0EF-29C80BC6008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3cef942d38_1_114">
            <a:extLst>
              <a:ext uri="{FF2B5EF4-FFF2-40B4-BE49-F238E27FC236}">
                <a16:creationId xmlns:a16="http://schemas.microsoft.com/office/drawing/2014/main" id="{DBF0D0DF-DCBD-4740-9BF9-1CB8DBE97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3cef942d38_1_116">
            <a:extLst>
              <a:ext uri="{FF2B5EF4-FFF2-40B4-BE49-F238E27FC236}">
                <a16:creationId xmlns:a16="http://schemas.microsoft.com/office/drawing/2014/main" id="{30CF760A-56C8-47D2-ABBB-D99E5A5D0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g33cef942d38_1_116">
            <a:extLst>
              <a:ext uri="{FF2B5EF4-FFF2-40B4-BE49-F238E27FC236}">
                <a16:creationId xmlns:a16="http://schemas.microsoft.com/office/drawing/2014/main" id="{912EF35D-7CA1-490A-8E41-712BACAFDEA7}"/>
              </a:ext>
            </a:extLst>
          </p:cNvPr>
          <p:cNvSpPr>
            <a:spLocks noGrp="1"/>
          </p:cNvSpPr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g33cef942d38_1_116">
            <a:extLst>
              <a:ext uri="{FF2B5EF4-FFF2-40B4-BE49-F238E27FC236}">
                <a16:creationId xmlns:a16="http://schemas.microsoft.com/office/drawing/2014/main" id="{48A063DB-3CF0-4768-91DF-E051333745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3cef942d38_1_120">
            <a:extLst>
              <a:ext uri="{FF2B5EF4-FFF2-40B4-BE49-F238E27FC236}">
                <a16:creationId xmlns:a16="http://schemas.microsoft.com/office/drawing/2014/main" id="{4B8408EC-5DB2-46FA-BDDF-23CFAF4B8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g33cef942d38_1_120">
            <a:extLst>
              <a:ext uri="{FF2B5EF4-FFF2-40B4-BE49-F238E27FC236}">
                <a16:creationId xmlns:a16="http://schemas.microsoft.com/office/drawing/2014/main" id="{081EB613-DDDA-48D7-AF72-2E796CAA4E11}"/>
              </a:ext>
            </a:extLst>
          </p:cNvPr>
          <p:cNvSpPr>
            <a:spLocks noGrp="1"/>
          </p:cNvSpPr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g33cef942d38_1_120">
            <a:extLst>
              <a:ext uri="{FF2B5EF4-FFF2-40B4-BE49-F238E27FC236}">
                <a16:creationId xmlns:a16="http://schemas.microsoft.com/office/drawing/2014/main" id="{C6D5F7BA-BE88-43E7-941D-9BDBC024DE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3cef942d38_1_124">
            <a:extLst>
              <a:ext uri="{FF2B5EF4-FFF2-40B4-BE49-F238E27FC236}">
                <a16:creationId xmlns:a16="http://schemas.microsoft.com/office/drawing/2014/main" id="{F9393B7A-2BCD-4520-AA65-70FB37CDE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g33cef942d38_1_124">
            <a:extLst>
              <a:ext uri="{FF2B5EF4-FFF2-40B4-BE49-F238E27FC236}">
                <a16:creationId xmlns:a16="http://schemas.microsoft.com/office/drawing/2014/main" id="{9F144160-DFA2-405A-9D38-7F193DAC82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8" name="Google Shape;118;g33cef942d38_1_124">
            <a:extLst>
              <a:ext uri="{FF2B5EF4-FFF2-40B4-BE49-F238E27FC236}">
                <a16:creationId xmlns:a16="http://schemas.microsoft.com/office/drawing/2014/main" id="{E1097669-3480-4E40-8084-3A2EF6072945}"/>
              </a:ext>
            </a:extLst>
          </p:cNvPr>
          <p:cNvSpPr>
            <a:spLocks noGrp="1"/>
          </p:cNvSpPr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g33cef942d38_1_124">
            <a:extLst>
              <a:ext uri="{FF2B5EF4-FFF2-40B4-BE49-F238E27FC236}">
                <a16:creationId xmlns:a16="http://schemas.microsoft.com/office/drawing/2014/main" id="{E7C6A03E-9B56-4FFD-A3D5-DBDA23D9E2F5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3cef942d38_1_129">
            <a:extLst>
              <a:ext uri="{FF2B5EF4-FFF2-40B4-BE49-F238E27FC236}">
                <a16:creationId xmlns:a16="http://schemas.microsoft.com/office/drawing/2014/main" id="{51D03B33-D8FE-45FC-9552-2160F724E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g33cef942d38_1_129">
            <a:extLst>
              <a:ext uri="{FF2B5EF4-FFF2-40B4-BE49-F238E27FC236}">
                <a16:creationId xmlns:a16="http://schemas.microsoft.com/office/drawing/2014/main" id="{E819BCF9-0E49-4BF4-B8D6-F1668DF73F89}"/>
              </a:ext>
            </a:extLst>
          </p:cNvPr>
          <p:cNvSpPr>
            <a:spLocks noGrp="1"/>
          </p:cNvSpPr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g33cef942d38_1_129">
            <a:extLst>
              <a:ext uri="{FF2B5EF4-FFF2-40B4-BE49-F238E27FC236}">
                <a16:creationId xmlns:a16="http://schemas.microsoft.com/office/drawing/2014/main" id="{566D1BB7-1FF7-4126-99CD-C02856216F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g33cef942d38_1_129">
            <a:extLst>
              <a:ext uri="{FF2B5EF4-FFF2-40B4-BE49-F238E27FC236}">
                <a16:creationId xmlns:a16="http://schemas.microsoft.com/office/drawing/2014/main" id="{6215D39A-4C50-48AA-9564-E9A6CE623A4A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6" Type="http://schemas.openxmlformats.org/officeDocument/2006/relationships/image" Target="../media/image4.jpeg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9">
            <a:extLst>
              <a:ext uri="{FF2B5EF4-FFF2-40B4-BE49-F238E27FC236}">
                <a16:creationId xmlns:a16="http://schemas.microsoft.com/office/drawing/2014/main" id="{E43C9EC3-BE25-40AD-AB91-45E911757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endParaRPr/>
          </a:p>
        </p:txBody>
      </p:sp>
      <p:sp>
        <p:nvSpPr>
          <p:cNvPr id="7" name="Google Shape;7;p19">
            <a:extLst>
              <a:ext uri="{FF2B5EF4-FFF2-40B4-BE49-F238E27FC236}">
                <a16:creationId xmlns:a16="http://schemas.microsoft.com/office/drawing/2014/main" id="{B4029224-215C-4D7B-A286-BFC0FBD1A2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marR="0" indent="-3365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marR="0" indent="-3238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marR="0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3pPr>
            <a:lvl4pPr marL="1828800" marR="0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4pPr>
            <a:lvl5pPr marL="2286000" marR="0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5pPr>
            <a:lvl6pPr marL="2743200" marR="0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6pPr>
            <a:lvl7pPr marL="3200400" marR="0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7pPr>
            <a:lvl8pPr marL="3657600" marR="0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8pPr>
            <a:lvl9pPr marL="4114800" marR="0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cap="none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9pPr>
          </a:lstStyle>
          <a:p>
            <a:endParaRPr/>
          </a:p>
        </p:txBody>
      </p:sp>
      <p:sp>
        <p:nvSpPr>
          <p:cNvPr id="8" name="Google Shape;8;p19">
            <a:extLst>
              <a:ext uri="{FF2B5EF4-FFF2-40B4-BE49-F238E27FC236}">
                <a16:creationId xmlns:a16="http://schemas.microsoft.com/office/drawing/2014/main" id="{DAA67668-DCF3-4E8C-9295-89999C35D2F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3cef942d38_1_74">
            <a:extLst>
              <a:ext uri="{FF2B5EF4-FFF2-40B4-BE49-F238E27FC236}">
                <a16:creationId xmlns:a16="http://schemas.microsoft.com/office/drawing/2014/main" id="{7D61D465-063F-48F7-8C63-A555388309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endParaRPr/>
          </a:p>
        </p:txBody>
      </p:sp>
      <p:sp>
        <p:nvSpPr>
          <p:cNvPr id="67" name="Google Shape;67;g33cef942d38_1_74">
            <a:extLst>
              <a:ext uri="{FF2B5EF4-FFF2-40B4-BE49-F238E27FC236}">
                <a16:creationId xmlns:a16="http://schemas.microsoft.com/office/drawing/2014/main" id="{02356D84-AAEA-4B73-AEDD-82A5C87A7C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3pPr>
            <a:lvl4pPr marL="18288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4pPr>
            <a:lvl5pPr marL="22860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5pPr>
            <a:lvl6pPr marL="27432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6pPr>
            <a:lvl7pPr marL="32004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7pPr>
            <a:lvl8pPr marL="36576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8pPr>
            <a:lvl9pPr marL="41148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9pPr>
          </a:lstStyle>
          <a:p>
            <a:endParaRPr/>
          </a:p>
        </p:txBody>
      </p:sp>
      <p:sp>
        <p:nvSpPr>
          <p:cNvPr id="68" name="Google Shape;68;g33cef942d38_1_74">
            <a:extLst>
              <a:ext uri="{FF2B5EF4-FFF2-40B4-BE49-F238E27FC236}">
                <a16:creationId xmlns:a16="http://schemas.microsoft.com/office/drawing/2014/main" id="{1DF0FBC7-E7F1-4898-9941-D683B126495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3cef942d38_1_69">
            <a:extLst>
              <a:ext uri="{FF2B5EF4-FFF2-40B4-BE49-F238E27FC236}">
                <a16:creationId xmlns:a16="http://schemas.microsoft.com/office/drawing/2014/main" id="{1AF6BE03-9AC9-4BBD-8B5B-AB649298FE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otus.ru</a:t>
            </a:r>
          </a:p>
        </p:txBody>
      </p:sp>
      <p:sp>
        <p:nvSpPr>
          <p:cNvPr id="130" name="Google Shape;130;g33cef942d38_1_69">
            <a:extLst>
              <a:ext uri="{FF2B5EF4-FFF2-40B4-BE49-F238E27FC236}">
                <a16:creationId xmlns:a16="http://schemas.microsoft.com/office/drawing/2014/main" id="{70FC8F87-D452-4E15-890A-3189FC7D3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690" y="809625"/>
            <a:ext cx="7379684" cy="29527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>Онлайн-магазин
с использованием
микросервисной архитектуры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3000"/>
              <a:t>Выпускной проект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1823766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">
            <a:extLst>
              <a:ext uri="{FF2B5EF4-FFF2-40B4-BE49-F238E27FC236}">
                <a16:creationId xmlns:a16="http://schemas.microsoft.com/office/drawing/2014/main" id="{69F96F4B-D7AC-4184-AED8-4D5447769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4000"/>
              <a:t>Меня хорошо видно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sz="4000"/>
              <a:t>&amp; слышно?</a:t>
            </a:r>
          </a:p>
        </p:txBody>
      </p:sp>
      <p:pic>
        <p:nvPicPr>
          <p:cNvPr id="139" name="Google Shape;136;p2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ln>
            <a:noFill/>
          </a:ln>
        </p:spPr>
      </p:pic>
      <p:pic>
        <p:nvPicPr>
          <p:cNvPr id="140" name="Google Shape;137;p2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13979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">
            <a:extLst>
              <a:ext uri="{FF2B5EF4-FFF2-40B4-BE49-F238E27FC236}">
                <a16:creationId xmlns:a16="http://schemas.microsoft.com/office/drawing/2014/main" id="{84E40AE9-B5BA-4DFF-985E-C28AE4C84092}"/>
              </a:ext>
            </a:extLst>
          </p:cNvPr>
          <p:cNvSpPr>
            <a:spLocks noGrp="1"/>
          </p:cNvSpPr>
          <p:nvPr/>
        </p:nvSpPr>
        <p:spPr>
          <a:xfrm>
            <a:off x="630000" y="2716325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149" name="Google Shape;143;p3"/>
          <p:cNvPicPr>
            <a:picLocks noChangeAspect="1"/>
          </p:cNvPicPr>
          <p:nvPr/>
        </p:nvPicPr>
        <p:blipFill rotWithShape="1">
          <a:blip r:embed="rId3">
            <a:alphaModFix/>
          </a:blip>
          <a:srcRect t="12992" b="12992"/>
          <a:stretch>
            <a:fillRect/>
          </a:stretch>
        </p:blipFill>
        <p:spPr>
          <a:xfrm>
            <a:off x="1069674" y="2963889"/>
            <a:ext cx="1508400" cy="1488600"/>
          </a:xfrm>
          <a:prstGeom prst="ellipse">
            <a:avLst/>
          </a:prstGeom>
          <a:ln>
            <a:noFill/>
          </a:ln>
        </p:spPr>
      </p:pic>
      <p:sp>
        <p:nvSpPr>
          <p:cNvPr id="144" name="Google Shape;144;p3">
            <a:extLst>
              <a:ext uri="{FF2B5EF4-FFF2-40B4-BE49-F238E27FC236}">
                <a16:creationId xmlns:a16="http://schemas.microsoft.com/office/drawing/2014/main" id="{25DAF14C-C6EA-4664-86EA-251F629B9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3000"/>
              <a:t>Защита проекта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3000"/>
              <a:t>Тема: Онлайн-магазин с использованием
микросервисной архитектуры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000"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endParaRPr sz="3000"/>
          </a:p>
        </p:txBody>
      </p:sp>
      <p:sp>
        <p:nvSpPr>
          <p:cNvPr id="145" name="Google Shape;145;p3">
            <a:extLst>
              <a:ext uri="{FF2B5EF4-FFF2-40B4-BE49-F238E27FC236}">
                <a16:creationId xmlns:a16="http://schemas.microsoft.com/office/drawing/2014/main" id="{85B53C01-C285-4950-ABCB-7E1623E7FE60}"/>
              </a:ext>
            </a:extLst>
          </p:cNvPr>
          <p:cNvSpPr>
            <a:spLocks noGrp="1"/>
          </p:cNvSpPr>
          <p:nvPr/>
        </p:nvSpPr>
        <p:spPr>
          <a:xfrm>
            <a:off x="3123850" y="2716325"/>
            <a:ext cx="5856300" cy="7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1" i="0" u="non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Маслов Павел Евгеньевич</a:t>
            </a:r>
          </a:p>
        </p:txBody>
      </p:sp>
      <p:sp>
        <p:nvSpPr>
          <p:cNvPr id="146" name="Google Shape;146;p3">
            <a:extLst>
              <a:ext uri="{FF2B5EF4-FFF2-40B4-BE49-F238E27FC236}">
                <a16:creationId xmlns:a16="http://schemas.microsoft.com/office/drawing/2014/main" id="{E11BF104-F098-4A75-86DE-019BEB7B8345}"/>
              </a:ext>
            </a:extLst>
          </p:cNvPr>
          <p:cNvSpPr>
            <a:spLocks noGrp="1"/>
          </p:cNvSpPr>
          <p:nvPr/>
        </p:nvSpPr>
        <p:spPr>
          <a:xfrm>
            <a:off x="3123850" y="3279300"/>
            <a:ext cx="5856300" cy="13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 dirty="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C#/.NET </a:t>
            </a:r>
            <a:r>
              <a:rPr sz="1400" b="0" i="0" u="none" cap="none" dirty="0" err="1">
                <a:solidFill>
                  <a:srgbClr val="000000"/>
                </a:solidFill>
                <a:latin typeface="Roboto"/>
                <a:ea typeface="Roboto"/>
                <a:cs typeface="Roboto"/>
              </a:rPr>
              <a:t>разработчик</a:t>
            </a:r>
            <a:endParaRPr sz="1400" b="0" i="0" u="none" cap="none" dirty="0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 dirty="0" err="1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Компания</a:t>
            </a:r>
            <a:r>
              <a:rPr sz="1400" b="0" i="0" u="none" cap="none" dirty="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: </a:t>
            </a:r>
            <a:r>
              <a:rPr lang="ru-RU" sz="1400" b="0" i="0" u="none" cap="none" dirty="0" err="1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Альфа-банк</a:t>
            </a:r>
            <a:endParaRPr sz="1400" b="0" i="0" u="none" cap="none" dirty="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800276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">
            <a:extLst>
              <a:ext uri="{FF2B5EF4-FFF2-40B4-BE49-F238E27FC236}">
                <a16:creationId xmlns:a16="http://schemas.microsoft.com/office/drawing/2014/main" id="{D37AF9B7-5D5B-4AAE-90D2-E342D1CC9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3000"/>
              <a:t>План защиты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endParaRPr sz="3000"/>
          </a:p>
        </p:txBody>
      </p:sp>
      <p:sp>
        <p:nvSpPr>
          <p:cNvPr id="152" name="Google Shape;152;p4">
            <a:extLst>
              <a:ext uri="{FF2B5EF4-FFF2-40B4-BE49-F238E27FC236}">
                <a16:creationId xmlns:a16="http://schemas.microsoft.com/office/drawing/2014/main" id="{CBBEFE5E-16C0-4516-883A-A8E1AB40A15A}"/>
              </a:ext>
            </a:extLst>
          </p:cNvPr>
          <p:cNvSpPr>
            <a:spLocks noGrp="1"/>
          </p:cNvSpPr>
          <p:nvPr/>
        </p:nvSpPr>
        <p:spPr>
          <a:xfrm>
            <a:off x="786525" y="1357313"/>
            <a:ext cx="3782700" cy="529212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dirty="0" err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Описание</a:t>
            </a:r>
            <a:r>
              <a:rPr dirty="0">
                <a:solidFill>
                  <a:schemeClr val="dk1"/>
                </a:solidFill>
                <a:latin typeface="Roboto"/>
                <a:ea typeface="Roboto"/>
                <a:cs typeface="Roboto"/>
              </a:rPr>
              <a:t> </a:t>
            </a:r>
            <a:r>
              <a:rPr dirty="0" err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проекта</a:t>
            </a:r>
            <a:r>
              <a:rPr dirty="0">
                <a:solidFill>
                  <a:schemeClr val="dk1"/>
                </a:solidFill>
                <a:latin typeface="Roboto"/>
                <a:ea typeface="Roboto"/>
                <a:cs typeface="Roboto"/>
              </a:rPr>
              <a:t> и </a:t>
            </a:r>
            <a:r>
              <a:rPr dirty="0" err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сценарии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53" name="Google Shape;153;p4">
            <a:extLst>
              <a:ext uri="{FF2B5EF4-FFF2-40B4-BE49-F238E27FC236}">
                <a16:creationId xmlns:a16="http://schemas.microsoft.com/office/drawing/2014/main" id="{52751EFF-FAFF-4A45-AB33-280AD052928C}"/>
              </a:ext>
            </a:extLst>
          </p:cNvPr>
          <p:cNvSpPr>
            <a:spLocks noGrp="1"/>
          </p:cNvSpPr>
          <p:nvPr/>
        </p:nvSpPr>
        <p:spPr>
          <a:xfrm>
            <a:off x="786525" y="2021904"/>
            <a:ext cx="3782700" cy="61131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dirty="0" err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Используемые</a:t>
            </a:r>
            <a:r>
              <a:rPr dirty="0">
                <a:solidFill>
                  <a:schemeClr val="dk1"/>
                </a:solidFill>
                <a:latin typeface="Roboto"/>
                <a:ea typeface="Roboto"/>
                <a:cs typeface="Roboto"/>
              </a:rPr>
              <a:t> </a:t>
            </a:r>
            <a:r>
              <a:rPr dirty="0" err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технологии</a:t>
            </a:r>
            <a:r>
              <a:rPr dirty="0">
                <a:solidFill>
                  <a:schemeClr val="dk1"/>
                </a:solidFill>
                <a:latin typeface="Roboto"/>
                <a:ea typeface="Roboto"/>
                <a:cs typeface="Roboto"/>
              </a:rPr>
              <a:t> и </a:t>
            </a:r>
            <a:r>
              <a:rPr dirty="0" err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паттерны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54" name="Google Shape;154;p4">
            <a:extLst>
              <a:ext uri="{FF2B5EF4-FFF2-40B4-BE49-F238E27FC236}">
                <a16:creationId xmlns:a16="http://schemas.microsoft.com/office/drawing/2014/main" id="{F5840B7C-CBC2-4F9A-AA9C-EBB4EF0B243B}"/>
              </a:ext>
            </a:extLst>
          </p:cNvPr>
          <p:cNvSpPr>
            <a:spLocks noGrp="1"/>
          </p:cNvSpPr>
          <p:nvPr/>
        </p:nvSpPr>
        <p:spPr>
          <a:xfrm>
            <a:off x="786525" y="2747494"/>
            <a:ext cx="3782700" cy="584256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dirty="0" err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Архитектура</a:t>
            </a:r>
            <a:r>
              <a:rPr dirty="0">
                <a:solidFill>
                  <a:schemeClr val="dk1"/>
                </a:solidFill>
                <a:latin typeface="Roboto"/>
                <a:ea typeface="Roboto"/>
                <a:cs typeface="Roboto"/>
              </a:rPr>
              <a:t> и </a:t>
            </a:r>
            <a:r>
              <a:rPr dirty="0" err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взаимодействие</a:t>
            </a:r>
            <a:r>
              <a:rPr dirty="0">
                <a:solidFill>
                  <a:schemeClr val="dk1"/>
                </a:solidFill>
                <a:latin typeface="Roboto"/>
                <a:ea typeface="Roboto"/>
                <a:cs typeface="Roboto"/>
              </a:rPr>
              <a:t> </a:t>
            </a:r>
            <a:r>
              <a:rPr dirty="0" err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сервисов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55" name="Google Shape;155;p4">
            <a:extLst>
              <a:ext uri="{FF2B5EF4-FFF2-40B4-BE49-F238E27FC236}">
                <a16:creationId xmlns:a16="http://schemas.microsoft.com/office/drawing/2014/main" id="{AB8A621D-8883-463E-AB76-739F25485A60}"/>
              </a:ext>
            </a:extLst>
          </p:cNvPr>
          <p:cNvSpPr>
            <a:spLocks noGrp="1"/>
          </p:cNvSpPr>
          <p:nvPr/>
        </p:nvSpPr>
        <p:spPr>
          <a:xfrm>
            <a:off x="786525" y="3446021"/>
            <a:ext cx="3782700" cy="584256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dirty="0" err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Результаты</a:t>
            </a:r>
            <a:r>
              <a:rPr dirty="0">
                <a:solidFill>
                  <a:schemeClr val="dk1"/>
                </a:solidFill>
                <a:latin typeface="Roboto"/>
                <a:ea typeface="Roboto"/>
                <a:cs typeface="Roboto"/>
              </a:rPr>
              <a:t>, </a:t>
            </a:r>
            <a:r>
              <a:rPr dirty="0" err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выводы</a:t>
            </a:r>
            <a:r>
              <a:rPr dirty="0">
                <a:solidFill>
                  <a:schemeClr val="dk1"/>
                </a:solidFill>
                <a:latin typeface="Roboto"/>
                <a:ea typeface="Roboto"/>
                <a:cs typeface="Roboto"/>
              </a:rPr>
              <a:t> и </a:t>
            </a:r>
            <a:r>
              <a:rPr dirty="0" err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планы</a:t>
            </a:r>
            <a:r>
              <a:rPr dirty="0">
                <a:solidFill>
                  <a:schemeClr val="dk1"/>
                </a:solidFill>
                <a:latin typeface="Roboto"/>
                <a:ea typeface="Roboto"/>
                <a:cs typeface="Roboto"/>
              </a:rPr>
              <a:t> </a:t>
            </a:r>
            <a:r>
              <a:rPr dirty="0" err="1">
                <a:solidFill>
                  <a:schemeClr val="dk1"/>
                </a:solidFill>
                <a:latin typeface="Roboto"/>
                <a:ea typeface="Roboto"/>
                <a:cs typeface="Roboto"/>
              </a:rPr>
              <a:t>развития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cxnSp>
        <p:nvCxnSpPr>
          <p:cNvPr id="180" name="Google Shape;156;p4"/>
          <p:cNvCxnSpPr>
            <a:cxnSpLocks/>
            <a:stCxn id="152" idx="1"/>
            <a:endCxn id="153" idx="1"/>
          </p:cNvCxnSpPr>
          <p:nvPr/>
        </p:nvCxnSpPr>
        <p:spPr>
          <a:xfrm rot="10800000" flipV="1">
            <a:off x="786525" y="1621918"/>
            <a:ext cx="12700" cy="705645"/>
          </a:xfrm>
          <a:prstGeom prst="curvedConnector3">
            <a:avLst>
              <a:gd name="adj1" fmla="val 1800000"/>
            </a:avLst>
          </a:prstGeom>
          <a:ln w="9525" cap="flat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81" name="Google Shape;157;p4"/>
          <p:cNvCxnSpPr>
            <a:cxnSpLocks/>
            <a:stCxn id="153" idx="1"/>
            <a:endCxn id="154" idx="1"/>
          </p:cNvCxnSpPr>
          <p:nvPr/>
        </p:nvCxnSpPr>
        <p:spPr>
          <a:xfrm rot="10800000" flipV="1">
            <a:off x="786525" y="2327564"/>
            <a:ext cx="12700" cy="712058"/>
          </a:xfrm>
          <a:prstGeom prst="curvedConnector3">
            <a:avLst>
              <a:gd name="adj1" fmla="val 1800000"/>
            </a:avLst>
          </a:prstGeom>
          <a:ln w="9525" cap="flat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82" name="Google Shape;158;p4"/>
          <p:cNvCxnSpPr>
            <a:cxnSpLocks/>
            <a:stCxn id="154" idx="1"/>
            <a:endCxn id="155" idx="1"/>
          </p:cNvCxnSpPr>
          <p:nvPr/>
        </p:nvCxnSpPr>
        <p:spPr>
          <a:xfrm rot="10800000" flipV="1">
            <a:off x="786525" y="3039621"/>
            <a:ext cx="12700" cy="698527"/>
          </a:xfrm>
          <a:prstGeom prst="curvedConnector3">
            <a:avLst>
              <a:gd name="adj1" fmla="val 1800000"/>
            </a:avLst>
          </a:prstGeom>
          <a:ln w="9525" cap="flat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6922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-title">
            <a:extLst>
              <a:ext uri="{FF2B5EF4-FFF2-40B4-BE49-F238E27FC236}">
                <a16:creationId xmlns:a16="http://schemas.microsoft.com/office/drawing/2014/main" id="{A0A1D72B-D9FA-4F38-9681-C46225D9396C}"/>
              </a:ext>
            </a:extLst>
          </p:cNvPr>
          <p:cNvSpPr>
            <a:spLocks noGrp="1"/>
          </p:cNvSpPr>
          <p:nvPr/>
        </p:nvSpPr>
        <p:spPr>
          <a:xfrm>
            <a:off x="500539" y="330708"/>
            <a:ext cx="8520589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>
                <a:solidFill>
                  <a:srgbClr val="000000"/>
                </a:solidFill>
              </a:defRPr>
            </a:pPr>
            <a:r>
              <a:rPr sz="3000">
                <a:solidFill>
                  <a:srgbClr val="000000"/>
                </a:solidFill>
              </a:rPr>
              <a:t>Общее описание проекта</a:t>
            </a:r>
          </a:p>
        </p:txBody>
      </p:sp>
      <p:sp>
        <p:nvSpPr>
          <p:cNvPr id="2" name="overview-lead">
            <a:extLst>
              <a:ext uri="{FF2B5EF4-FFF2-40B4-BE49-F238E27FC236}">
                <a16:creationId xmlns:a16="http://schemas.microsoft.com/office/drawing/2014/main" id="{85FABA0D-1A7E-4C85-A0ED-5EBB7D85DB99}"/>
              </a:ext>
            </a:extLst>
          </p:cNvPr>
          <p:cNvSpPr>
            <a:spLocks noGrp="1"/>
          </p:cNvSpPr>
          <p:nvPr/>
        </p:nvSpPr>
        <p:spPr>
          <a:xfrm>
            <a:off x="590550" y="1190625"/>
            <a:ext cx="7905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E1E1E"/>
                </a:solidFill>
              </a:defRPr>
            </a:pPr>
            <a:r>
              <a:rPr sz="1950" b="1">
                <a:solidFill>
                  <a:srgbClr val="1E1E1E"/>
                </a:solidFill>
              </a:rPr>
              <a:t>Backend-платформа интернет-магазина электроники, построенная как набор независимых микросервисов.</a:t>
            </a:r>
          </a:p>
        </p:txBody>
      </p:sp>
      <p:sp>
        <p:nvSpPr>
          <p:cNvPr id="3" name="overview-accent">
            <a:extLst>
              <a:ext uri="{FF2B5EF4-FFF2-40B4-BE49-F238E27FC236}">
                <a16:creationId xmlns:a16="http://schemas.microsoft.com/office/drawing/2014/main" id="{A22EB1E5-7166-457C-89A8-EDCC0C6F6749}"/>
              </a:ext>
            </a:extLst>
          </p:cNvPr>
          <p:cNvSpPr>
            <a:spLocks noGrp="1"/>
          </p:cNvSpPr>
          <p:nvPr/>
        </p:nvSpPr>
        <p:spPr>
          <a:xfrm>
            <a:off x="590550" y="1866900"/>
            <a:ext cx="66675" cy="1962150"/>
          </a:xfrm>
          <a:prstGeom prst="rect">
            <a:avLst/>
          </a:prstGeom>
          <a:solidFill>
            <a:srgbClr val="FF8A00"/>
          </a:solidFill>
          <a:ln w="0">
            <a:solidFill>
              <a:srgbClr val="FF8A0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buyer-heading">
            <a:extLst>
              <a:ext uri="{FF2B5EF4-FFF2-40B4-BE49-F238E27FC236}">
                <a16:creationId xmlns:a16="http://schemas.microsoft.com/office/drawing/2014/main" id="{0B6B281C-4CF7-4DDA-BB65-06D137FC3829}"/>
              </a:ext>
            </a:extLst>
          </p:cNvPr>
          <p:cNvSpPr>
            <a:spLocks noGrp="1"/>
          </p:cNvSpPr>
          <p:nvPr/>
        </p:nvSpPr>
        <p:spPr>
          <a:xfrm>
            <a:off x="876300" y="18478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E1E1E"/>
                </a:solidFill>
              </a:defRPr>
            </a:pPr>
            <a:r>
              <a:rPr sz="1800" b="1">
                <a:solidFill>
                  <a:srgbClr val="1E1E1E"/>
                </a:solidFill>
              </a:rPr>
              <a:t>Покупатель</a:t>
            </a:r>
          </a:p>
        </p:txBody>
      </p:sp>
      <p:sp>
        <p:nvSpPr>
          <p:cNvPr id="5" name="buyer-copy">
            <a:extLst>
              <a:ext uri="{FF2B5EF4-FFF2-40B4-BE49-F238E27FC236}">
                <a16:creationId xmlns:a16="http://schemas.microsoft.com/office/drawing/2014/main" id="{C275AE9E-EA45-4589-B88E-ACBB48E4183C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333375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E1E1E"/>
                </a:solidFill>
              </a:defRPr>
            </a:pPr>
            <a:r>
              <a:rPr sz="1500" b="0">
                <a:solidFill>
                  <a:srgbClr val="1E1E1E"/>
                </a:solidFill>
              </a:rPr>
              <a:t>Регистрируется и входит в систему</a:t>
            </a:r>
          </a:p>
          <a:p>
            <a:pPr algn="l">
              <a:defRPr sz="1500" b="0">
                <a:solidFill>
                  <a:srgbClr val="1E1E1E"/>
                </a:solidFill>
              </a:defRPr>
            </a:pPr>
            <a:r>
              <a:rPr sz="1500" b="0">
                <a:solidFill>
                  <a:srgbClr val="1E1E1E"/>
                </a:solidFill>
              </a:rPr>
              <a:t>Просматривает каталог и наличие</a:t>
            </a:r>
          </a:p>
          <a:p>
            <a:pPr algn="l">
              <a:defRPr sz="1500" b="0">
                <a:solidFill>
                  <a:srgbClr val="1E1E1E"/>
                </a:solidFill>
              </a:defRPr>
            </a:pPr>
            <a:r>
              <a:rPr sz="1500" b="0">
                <a:solidFill>
                  <a:srgbClr val="1E1E1E"/>
                </a:solidFill>
              </a:rPr>
              <a:t>Управляет профилем и адресами</a:t>
            </a:r>
          </a:p>
          <a:p>
            <a:pPr algn="l">
              <a:defRPr sz="1500" b="0">
                <a:solidFill>
                  <a:srgbClr val="1E1E1E"/>
                </a:solidFill>
              </a:defRPr>
            </a:pPr>
            <a:r>
              <a:rPr sz="1500" b="0">
                <a:solidFill>
                  <a:srgbClr val="1E1E1E"/>
                </a:solidFill>
              </a:rPr>
              <a:t>Оформляет, оплачивает и получает заказ</a:t>
            </a:r>
          </a:p>
        </p:txBody>
      </p:sp>
      <p:sp>
        <p:nvSpPr>
          <p:cNvPr id="6" name="admin-heading">
            <a:extLst>
              <a:ext uri="{FF2B5EF4-FFF2-40B4-BE49-F238E27FC236}">
                <a16:creationId xmlns:a16="http://schemas.microsoft.com/office/drawing/2014/main" id="{6A44AF29-BDA4-49C5-94E7-87C1C34D1694}"/>
              </a:ext>
            </a:extLst>
          </p:cNvPr>
          <p:cNvSpPr>
            <a:spLocks noGrp="1"/>
          </p:cNvSpPr>
          <p:nvPr/>
        </p:nvSpPr>
        <p:spPr>
          <a:xfrm>
            <a:off x="4953000" y="18478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E1E1E"/>
                </a:solidFill>
              </a:defRPr>
            </a:pPr>
            <a:r>
              <a:rPr sz="1800" b="1">
                <a:solidFill>
                  <a:srgbClr val="1E1E1E"/>
                </a:solidFill>
              </a:rPr>
              <a:t>Администратор</a:t>
            </a:r>
          </a:p>
        </p:txBody>
      </p:sp>
      <p:sp>
        <p:nvSpPr>
          <p:cNvPr id="7" name="admin-copy">
            <a:extLst>
              <a:ext uri="{FF2B5EF4-FFF2-40B4-BE49-F238E27FC236}">
                <a16:creationId xmlns:a16="http://schemas.microsoft.com/office/drawing/2014/main" id="{63CFA4B9-702E-4D0E-9D74-0EAA9CB86F18}"/>
              </a:ext>
            </a:extLst>
          </p:cNvPr>
          <p:cNvSpPr>
            <a:spLocks noGrp="1"/>
          </p:cNvSpPr>
          <p:nvPr/>
        </p:nvSpPr>
        <p:spPr>
          <a:xfrm>
            <a:off x="4953000" y="2247900"/>
            <a:ext cx="333375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E1E1E"/>
                </a:solidFill>
              </a:defRPr>
            </a:pPr>
            <a:r>
              <a:rPr sz="1500" b="0">
                <a:solidFill>
                  <a:srgbClr val="1E1E1E"/>
                </a:solidFill>
              </a:rPr>
              <a:t>Управляет товарами каталога</a:t>
            </a:r>
          </a:p>
          <a:p>
            <a:pPr algn="l">
              <a:defRPr sz="1500" b="0">
                <a:solidFill>
                  <a:srgbClr val="1E1E1E"/>
                </a:solidFill>
              </a:defRPr>
            </a:pPr>
            <a:r>
              <a:rPr sz="1500" b="0">
                <a:solidFill>
                  <a:srgbClr val="1E1E1E"/>
                </a:solidFill>
              </a:rPr>
              <a:t>Пополняет складские остатки</a:t>
            </a:r>
          </a:p>
          <a:p>
            <a:pPr algn="l">
              <a:defRPr sz="1500" b="0">
                <a:solidFill>
                  <a:srgbClr val="1E1E1E"/>
                </a:solidFill>
              </a:defRPr>
            </a:pPr>
            <a:r>
              <a:rPr sz="1500" b="0">
                <a:solidFill>
                  <a:srgbClr val="1E1E1E"/>
                </a:solidFill>
              </a:rPr>
              <a:t>Настраивает зоны и слоты доставки</a:t>
            </a:r>
          </a:p>
          <a:p>
            <a:pPr algn="l">
              <a:defRPr sz="1500" b="0">
                <a:solidFill>
                  <a:srgbClr val="1E1E1E"/>
                </a:solidFill>
              </a:defRPr>
            </a:pPr>
            <a:r>
              <a:rPr sz="1500" b="0">
                <a:solidFill>
                  <a:srgbClr val="1E1E1E"/>
                </a:solidFill>
              </a:rPr>
              <a:t>Контролирует состояние системы</a:t>
            </a:r>
          </a:p>
        </p:txBody>
      </p:sp>
      <p:sp>
        <p:nvSpPr>
          <p:cNvPr id="8" name="customer-journey">
            <a:extLst>
              <a:ext uri="{FF2B5EF4-FFF2-40B4-BE49-F238E27FC236}">
                <a16:creationId xmlns:a16="http://schemas.microsoft.com/office/drawing/2014/main" id="{5834BE2C-3B41-4DD0-B0C5-9EFE9F59BFFF}"/>
              </a:ext>
            </a:extLst>
          </p:cNvPr>
          <p:cNvSpPr>
            <a:spLocks noGrp="1"/>
          </p:cNvSpPr>
          <p:nvPr/>
        </p:nvSpPr>
        <p:spPr>
          <a:xfrm>
            <a:off x="590550" y="3943350"/>
            <a:ext cx="7905750" cy="514350"/>
          </a:xfrm>
          <a:prstGeom prst="roundRect">
            <a:avLst>
              <a:gd name="adj" fmla="val 14815"/>
            </a:avLst>
          </a:prstGeom>
          <a:solidFill>
            <a:srgbClr val="FFD54F"/>
          </a:solidFill>
          <a:ln w="9525">
            <a:solidFill>
              <a:srgbClr val="FF8A00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E1E1E"/>
                </a:solidFill>
              </a:defRPr>
            </a:pPr>
            <a:r>
              <a:rPr sz="1350" b="1">
                <a:solidFill>
                  <a:srgbClr val="1E1E1E"/>
                </a:solidFill>
              </a:rPr>
              <a:t>Регистрация  →  Каталог  →  Заказ  →  Оплата и резервы  →  Доставка  →  Уведомление</a:t>
            </a:r>
          </a:p>
        </p:txBody>
      </p:sp>
    </p:spTree>
    <p:extLst>
      <p:ext uri="{BB962C8B-B14F-4D97-AF65-F5344CB8AC3E}">
        <p14:creationId xmlns:p14="http://schemas.microsoft.com/office/powerpoint/2010/main" val="879794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">
            <a:extLst>
              <a:ext uri="{FF2B5EF4-FFF2-40B4-BE49-F238E27FC236}">
                <a16:creationId xmlns:a16="http://schemas.microsoft.com/office/drawing/2014/main" id="{4C9DB051-9BFA-4E87-B403-F29DDD4EA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sz="3000"/>
              <a:t>Используемые технологии и паттерны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endParaRPr sz="3000"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endParaRPr sz="3000"/>
          </a:p>
        </p:txBody>
      </p:sp>
      <p:graphicFrame>
        <p:nvGraphicFramePr>
          <p:cNvPr id="173" name="Google Shape;169;p7"/>
          <p:cNvGraphicFramePr/>
          <p:nvPr/>
        </p:nvGraphicFramePr>
        <p:xfrm>
          <a:off x="952500" y="1544194"/>
          <a:ext cx="7239000" cy="1446492"/>
        </p:xfrm>
        <a:graphic>
          <a:graphicData uri="http://schemas.openxmlformats.org/drawingml/2006/table">
            <a:tbl>
              <a:tblPr>
                <a:tableStyleId>{179F2DDD-858B-4C48-8312-BD252F341D8D}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sz="1300" b="1" u="none" cap="none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</a:p>
                  </a:txBody>
                  <a:tcPr marL="198000" marR="91425" marT="68575" marB="68575">
                    <a:lnL w="9525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</a:lnR>
                    <a:lnT w="9525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t>ASP.NET Core 8, REST, JWT RS256</a:t>
                      </a:r>
                    </a:p>
                  </a:txBody>
                  <a:tcPr marL="198000" marR="91425" marT="68575" marB="68575">
                    <a:lnL w="9525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</a:lnL>
                    <a:lnR w="9525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sz="1300" b="1" u="none" cap="none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</a:p>
                  </a:txBody>
                  <a:tcPr marL="198000" marR="91425" marT="68575" marB="68575">
                    <a:lnL w="9525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t>PostgreSQL, Redis, Apache Kafka</a:t>
                      </a:r>
                    </a:p>
                  </a:txBody>
                  <a:tcPr marL="198000" marR="91425" marT="68575" marB="68575">
                    <a:lnL w="9525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</a:lnL>
                    <a:lnR w="9525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sz="1300" b="1" u="none" cap="none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</a:p>
                  </a:txBody>
                  <a:tcPr marL="198000" marR="91425" marT="68575" marB="68575">
                    <a:lnL w="9525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t>Saga, Outbox/Inbox, Idempotency</a:t>
                      </a:r>
                    </a:p>
                  </a:txBody>
                  <a:tcPr marL="198000" marR="91425" marT="68575" marB="68575">
                    <a:lnL w="9525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</a:lnL>
                    <a:lnR w="9525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sz="1300" b="1" u="none" cap="none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</a:rPr>
                        <a:t>4.</a:t>
                      </a:r>
                    </a:p>
                  </a:txBody>
                  <a:tcPr marL="198000" marR="91425" marT="68575" marB="68575">
                    <a:lnL w="9525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t>Docker, Kubernetes, Helm, Traefik</a:t>
                      </a:r>
                    </a:p>
                  </a:txBody>
                  <a:tcPr marL="198000" marR="91425" marT="68575" marB="68575">
                    <a:lnL w="9525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</a:lnL>
                    <a:lnR w="9525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0" name="Google Shape;170;p7">
            <a:extLst>
              <a:ext uri="{FF2B5EF4-FFF2-40B4-BE49-F238E27FC236}">
                <a16:creationId xmlns:a16="http://schemas.microsoft.com/office/drawing/2014/main" id="{6EFDDB1D-B1CF-4DF7-BC96-C6F510409D87}"/>
              </a:ext>
            </a:extLst>
          </p:cNvPr>
          <p:cNvSpPr>
            <a:spLocks noGrp="1"/>
          </p:cNvSpPr>
          <p:nvPr/>
        </p:nvSpPr>
        <p:spPr>
          <a:xfrm>
            <a:off x="4934400" y="3763050"/>
            <a:ext cx="3257100" cy="830400"/>
          </a:xfrm>
          <a:prstGeom prst="wedgeRectCallout">
            <a:avLst>
              <a:gd name="adj1" fmla="val -32765"/>
              <a:gd name="adj2" fmla="val -96401"/>
            </a:avLst>
          </a:prstGeom>
          <a:solidFill>
            <a:srgbClr val="F3F3F3"/>
          </a:solidFill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98000" tIns="126000" rIns="198000" bIns="1260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Prometheus + Grafana — метрики</a:t>
            </a:r>
          </a:p>
          <a:p>
            <a:pPr marL="0" marR="0" lvl="0" indent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Elasticsearch + Kibana — логи</a:t>
            </a:r>
          </a:p>
          <a:p>
            <a:pPr marL="0" marR="0" lvl="0" indent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dk1"/>
                </a:solidFill>
                <a:latin typeface="Roboto"/>
                <a:ea typeface="Roboto"/>
                <a:cs typeface="Roboto"/>
              </a:rPr>
              <a:t>Postman/Newman — E2E-проверка</a:t>
            </a:r>
          </a:p>
        </p:txBody>
      </p:sp>
    </p:spTree>
    <p:extLst>
      <p:ext uri="{BB962C8B-B14F-4D97-AF65-F5344CB8AC3E}">
        <p14:creationId xmlns:p14="http://schemas.microsoft.com/office/powerpoint/2010/main" val="320364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3cef942d38_1_146">
            <a:extLst>
              <a:ext uri="{FF2B5EF4-FFF2-40B4-BE49-F238E27FC236}">
                <a16:creationId xmlns:a16="http://schemas.microsoft.com/office/drawing/2014/main" id="{0A55D97F-7A4A-44B9-A0CF-5C58A2DA7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sz="3000"/>
              <a:t>Диаграмма развертывания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endParaRPr sz="3000"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endParaRPr sz="3000"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endParaRPr sz="3000"/>
          </a:p>
        </p:txBody>
      </p:sp>
      <p:pic>
        <p:nvPicPr>
          <p:cNvPr id="180" name="Рисунок 17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23623" y="1066800"/>
            <a:ext cx="5096755" cy="3219450"/>
          </a:xfrm>
          <a:prstGeom prst="rect">
            <a:avLst/>
          </a:prstGeom>
        </p:spPr>
      </p:pic>
      <p:sp>
        <p:nvSpPr>
          <p:cNvPr id="177" name="Прямоугольник 176">
            <a:extLst>
              <a:ext uri="{FF2B5EF4-FFF2-40B4-BE49-F238E27FC236}">
                <a16:creationId xmlns:a16="http://schemas.microsoft.com/office/drawing/2014/main" id="{FBFB89D4-6207-49DE-A4C2-C9EC9F4654B6}"/>
              </a:ext>
            </a:extLst>
          </p:cNvPr>
          <p:cNvSpPr>
            <a:spLocks noGrp="1"/>
          </p:cNvSpPr>
          <p:nvPr/>
        </p:nvSpPr>
        <p:spPr>
          <a:xfrm>
            <a:off x="1666875" y="4305300"/>
            <a:ext cx="581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0">
                <a:solidFill>
                  <a:srgbClr val="666666"/>
                </a:solidFill>
              </a:defRPr>
            </a:pPr>
            <a:r>
              <a:rPr sz="1125" b="0">
                <a:solidFill>
                  <a:srgbClr val="666666"/>
                </a:solidFill>
              </a:rPr>
              <a:t>Каждый микросервис владеет своей моделью и логической базой данных</a:t>
            </a:r>
          </a:p>
        </p:txBody>
      </p:sp>
    </p:spTree>
    <p:extLst>
      <p:ext uri="{BB962C8B-B14F-4D97-AF65-F5344CB8AC3E}">
        <p14:creationId xmlns:p14="http://schemas.microsoft.com/office/powerpoint/2010/main" val="7601195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82325" y="1066800"/>
            <a:ext cx="7179350" cy="3571875"/>
          </a:xfrm>
          <a:prstGeom prst="rect">
            <a:avLst/>
          </a:prstGeom>
        </p:spPr>
      </p:pic>
      <p:sp>
        <p:nvSpPr>
          <p:cNvPr id="3" name="slide-title-top">
            <a:extLst>
              <a:ext uri="{FF2B5EF4-FFF2-40B4-BE49-F238E27FC236}">
                <a16:creationId xmlns:a16="http://schemas.microsoft.com/office/drawing/2014/main" id="{44BABCB1-AE3B-4BFD-88E2-2C1C6A41954E}"/>
              </a:ext>
            </a:extLst>
          </p:cNvPr>
          <p:cNvSpPr>
            <a:spLocks noGrp="1"/>
          </p:cNvSpPr>
          <p:nvPr/>
        </p:nvSpPr>
        <p:spPr>
          <a:xfrm>
            <a:off x="500539" y="330708"/>
            <a:ext cx="8520589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>
                <a:solidFill>
                  <a:srgbClr val="000000"/>
                </a:solidFill>
              </a:defRPr>
            </a:pPr>
            <a:r>
              <a:rPr sz="3000">
                <a:solidFill>
                  <a:srgbClr val="000000"/>
                </a:solidFill>
              </a:rPr>
              <a:t>Регистрация пользователя</a:t>
            </a:r>
          </a:p>
        </p:txBody>
      </p:sp>
    </p:spTree>
    <p:extLst>
      <p:ext uri="{BB962C8B-B14F-4D97-AF65-F5344CB8AC3E}">
        <p14:creationId xmlns:p14="http://schemas.microsoft.com/office/powerpoint/2010/main" val="1932806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28750" y="1844877"/>
            <a:ext cx="6286500" cy="1929996"/>
          </a:xfrm>
          <a:prstGeom prst="rect">
            <a:avLst/>
          </a:prstGeom>
        </p:spPr>
      </p:pic>
      <p:sp>
        <p:nvSpPr>
          <p:cNvPr id="2" name="slide-title">
            <a:extLst>
              <a:ext uri="{FF2B5EF4-FFF2-40B4-BE49-F238E27FC236}">
                <a16:creationId xmlns:a16="http://schemas.microsoft.com/office/drawing/2014/main" id="{49B82C0D-E5DA-42BE-80E6-842A8071824B}"/>
              </a:ext>
            </a:extLst>
          </p:cNvPr>
          <p:cNvSpPr>
            <a:spLocks noGrp="1"/>
          </p:cNvSpPr>
          <p:nvPr/>
        </p:nvSpPr>
        <p:spPr>
          <a:xfrm>
            <a:off x="500539" y="330708"/>
            <a:ext cx="8520589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>
                <a:solidFill>
                  <a:srgbClr val="000000"/>
                </a:solidFill>
              </a:defRPr>
            </a:pPr>
            <a:r>
              <a:rPr sz="3000">
                <a:solidFill>
                  <a:srgbClr val="000000"/>
                </a:solidFill>
              </a:rPr>
              <a:t>Создание счёта после регистрации</a:t>
            </a:r>
          </a:p>
        </p:txBody>
      </p:sp>
    </p:spTree>
    <p:extLst>
      <p:ext uri="{BB962C8B-B14F-4D97-AF65-F5344CB8AC3E}">
        <p14:creationId xmlns:p14="http://schemas.microsoft.com/office/powerpoint/2010/main" val="314297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-title">
            <a:extLst>
              <a:ext uri="{FF2B5EF4-FFF2-40B4-BE49-F238E27FC236}">
                <a16:creationId xmlns:a16="http://schemas.microsoft.com/office/drawing/2014/main" id="{C3A7F53A-B751-4BF4-A0DA-3366DE0898E7}"/>
              </a:ext>
            </a:extLst>
          </p:cNvPr>
          <p:cNvSpPr>
            <a:spLocks noGrp="1"/>
          </p:cNvSpPr>
          <p:nvPr/>
        </p:nvSpPr>
        <p:spPr>
          <a:xfrm>
            <a:off x="500539" y="330708"/>
            <a:ext cx="8520589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>
                <a:solidFill>
                  <a:srgbClr val="000000"/>
                </a:solidFill>
              </a:defRPr>
            </a:pPr>
            <a:r>
              <a:rPr sz="3000">
                <a:solidFill>
                  <a:srgbClr val="000000"/>
                </a:solidFill>
              </a:rPr>
              <a:t>Оформление заказа: создание заказа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23875" y="1328083"/>
            <a:ext cx="8096250" cy="3049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56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2500" y="1624120"/>
            <a:ext cx="7239000" cy="2371510"/>
          </a:xfrm>
          <a:prstGeom prst="rect">
            <a:avLst/>
          </a:prstGeom>
        </p:spPr>
      </p:pic>
      <p:sp>
        <p:nvSpPr>
          <p:cNvPr id="2" name="slide-title">
            <a:extLst>
              <a:ext uri="{FF2B5EF4-FFF2-40B4-BE49-F238E27FC236}">
                <a16:creationId xmlns:a16="http://schemas.microsoft.com/office/drawing/2014/main" id="{756AD2C2-2279-43DD-ABCB-567197FD97BF}"/>
              </a:ext>
            </a:extLst>
          </p:cNvPr>
          <p:cNvSpPr>
            <a:spLocks noGrp="1"/>
          </p:cNvSpPr>
          <p:nvPr/>
        </p:nvSpPr>
        <p:spPr>
          <a:xfrm>
            <a:off x="500539" y="330708"/>
            <a:ext cx="8520589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>
                <a:solidFill>
                  <a:srgbClr val="000000"/>
                </a:solidFill>
              </a:defRPr>
            </a:pPr>
            <a:r>
              <a:rPr sz="3000">
                <a:solidFill>
                  <a:srgbClr val="000000"/>
                </a:solidFill>
              </a:rPr>
              <a:t>Оформление заказа: проверка статуса</a:t>
            </a:r>
          </a:p>
        </p:txBody>
      </p:sp>
    </p:spTree>
    <p:extLst>
      <p:ext uri="{BB962C8B-B14F-4D97-AF65-F5344CB8AC3E}">
        <p14:creationId xmlns:p14="http://schemas.microsoft.com/office/powerpoint/2010/main" val="11451379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98323" y="1066800"/>
            <a:ext cx="6147354" cy="3571875"/>
          </a:xfrm>
          <a:prstGeom prst="rect">
            <a:avLst/>
          </a:prstGeom>
        </p:spPr>
      </p:pic>
      <p:sp>
        <p:nvSpPr>
          <p:cNvPr id="3" name="slide-title-top">
            <a:extLst>
              <a:ext uri="{FF2B5EF4-FFF2-40B4-BE49-F238E27FC236}">
                <a16:creationId xmlns:a16="http://schemas.microsoft.com/office/drawing/2014/main" id="{1778E552-457D-4D54-B89E-6512753BE8E1}"/>
              </a:ext>
            </a:extLst>
          </p:cNvPr>
          <p:cNvSpPr>
            <a:spLocks noGrp="1"/>
          </p:cNvSpPr>
          <p:nvPr/>
        </p:nvSpPr>
        <p:spPr>
          <a:xfrm>
            <a:off x="500539" y="330708"/>
            <a:ext cx="8520589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>
                <a:solidFill>
                  <a:srgbClr val="000000"/>
                </a:solidFill>
              </a:defRPr>
            </a:pPr>
            <a:r>
              <a:rPr sz="3000">
                <a:solidFill>
                  <a:srgbClr val="000000"/>
                </a:solidFill>
              </a:rPr>
              <a:t>Оформление заказа: резервы</a:t>
            </a:r>
          </a:p>
        </p:txBody>
      </p:sp>
    </p:spTree>
    <p:extLst>
      <p:ext uri="{BB962C8B-B14F-4D97-AF65-F5344CB8AC3E}">
        <p14:creationId xmlns:p14="http://schemas.microsoft.com/office/powerpoint/2010/main" val="596470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43000" y="1322852"/>
            <a:ext cx="6858000" cy="2974047"/>
          </a:xfrm>
          <a:prstGeom prst="rect">
            <a:avLst/>
          </a:prstGeom>
        </p:spPr>
      </p:pic>
      <p:sp>
        <p:nvSpPr>
          <p:cNvPr id="2" name="slide-title">
            <a:extLst>
              <a:ext uri="{FF2B5EF4-FFF2-40B4-BE49-F238E27FC236}">
                <a16:creationId xmlns:a16="http://schemas.microsoft.com/office/drawing/2014/main" id="{634C0CD9-4E05-481E-B8E0-DEBBB61FF5B6}"/>
              </a:ext>
            </a:extLst>
          </p:cNvPr>
          <p:cNvSpPr>
            <a:spLocks noGrp="1"/>
          </p:cNvSpPr>
          <p:nvPr/>
        </p:nvSpPr>
        <p:spPr>
          <a:xfrm>
            <a:off x="500539" y="330708"/>
            <a:ext cx="8520589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>
                <a:solidFill>
                  <a:srgbClr val="000000"/>
                </a:solidFill>
              </a:defRPr>
            </a:pPr>
            <a:r>
              <a:rPr sz="3000">
                <a:solidFill>
                  <a:srgbClr val="000000"/>
                </a:solidFill>
              </a:rPr>
              <a:t>Оформление заказа: подтверждение</a:t>
            </a:r>
          </a:p>
        </p:txBody>
      </p:sp>
    </p:spTree>
    <p:extLst>
      <p:ext uri="{BB962C8B-B14F-4D97-AF65-F5344CB8AC3E}">
        <p14:creationId xmlns:p14="http://schemas.microsoft.com/office/powerpoint/2010/main" val="15146212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3cef942d38_2_4">
            <a:extLst>
              <a:ext uri="{FF2B5EF4-FFF2-40B4-BE49-F238E27FC236}">
                <a16:creationId xmlns:a16="http://schemas.microsoft.com/office/drawing/2014/main" id="{988A310E-AD60-4C35-A764-F4EDBB447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sz="3000"/>
              <a:t>Описание межсервисного взаимодействия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endParaRPr sz="3000"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endParaRPr sz="3000"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endParaRPr sz="3000"/>
          </a:p>
        </p:txBody>
      </p:sp>
      <p:sp>
        <p:nvSpPr>
          <p:cNvPr id="192" name="Google Shape;192;g33cef942d38_2_4">
            <a:extLst>
              <a:ext uri="{FF2B5EF4-FFF2-40B4-BE49-F238E27FC236}">
                <a16:creationId xmlns:a16="http://schemas.microsoft.com/office/drawing/2014/main" id="{060409B4-3FB4-4E79-A15E-1C736F2B7EFC}"/>
              </a:ext>
            </a:extLst>
          </p:cNvPr>
          <p:cNvSpPr>
            <a:spLocks noGrp="1"/>
          </p:cNvSpPr>
          <p:nvPr/>
        </p:nvSpPr>
        <p:spPr>
          <a:xfrm>
            <a:off x="5146325" y="1878075"/>
            <a:ext cx="3257100" cy="644700"/>
          </a:xfrm>
          <a:prstGeom prst="wedgeRectCallout">
            <a:avLst>
              <a:gd name="adj1" fmla="val -20075"/>
              <a:gd name="adj2" fmla="val 76031"/>
            </a:avLst>
          </a:prstGeom>
          <a:solidFill>
            <a:srgbClr val="F3F3F3"/>
          </a:solidFill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98000" tIns="126000" rIns="198000" bIns="1260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HTTP/JSON для команд • Kafka для событий</a:t>
            </a:r>
          </a:p>
        </p:txBody>
      </p:sp>
      <p:sp>
        <p:nvSpPr>
          <p:cNvPr id="193" name="Прямоугольник: скругленные углы 192">
            <a:extLst>
              <a:ext uri="{FF2B5EF4-FFF2-40B4-BE49-F238E27FC236}">
                <a16:creationId xmlns:a16="http://schemas.microsoft.com/office/drawing/2014/main" id="{39E7D170-F956-4B79-896A-4CA5B1902604}"/>
              </a:ext>
            </a:extLst>
          </p:cNvPr>
          <p:cNvSpPr>
            <a:spLocks noGrp="1"/>
          </p:cNvSpPr>
          <p:nvPr/>
        </p:nvSpPr>
        <p:spPr>
          <a:xfrm>
            <a:off x="714375" y="1428750"/>
            <a:ext cx="3429000" cy="2571750"/>
          </a:xfrm>
          <a:prstGeom prst="roundRect">
            <a:avLst>
              <a:gd name="adj" fmla="val 2222"/>
            </a:avLst>
          </a:prstGeom>
          <a:solidFill>
            <a:srgbClr val="E3F2FD"/>
          </a:solidFill>
          <a:ln w="19050">
            <a:solidFill>
              <a:srgbClr val="1976D2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350" b="0">
                <a:solidFill>
                  <a:srgbClr val="1E1E1E"/>
                </a:solidFill>
              </a:defRPr>
            </a:pPr>
            <a:r>
              <a:rPr sz="1350" b="0">
                <a:solidFill>
                  <a:srgbClr val="1E1E1E"/>
                </a:solidFill>
              </a:rPr>
              <a:t>Синхронно — HTTP/JSON</a:t>
            </a:r>
          </a:p>
          <a:p>
            <a:endParaRPr sz="1350" b="0">
              <a:solidFill>
                <a:srgbClr val="1E1E1E"/>
              </a:solidFill>
            </a:endParaRPr>
          </a:p>
          <a:p>
            <a:pPr algn="ctr">
              <a:buNone/>
              <a:defRPr sz="1350" b="0">
                <a:solidFill>
                  <a:srgbClr val="1E1E1E"/>
                </a:solidFill>
              </a:defRPr>
            </a:pPr>
            <a:r>
              <a:rPr sz="1350" b="0">
                <a:solidFill>
                  <a:srgbClr val="1E1E1E"/>
                </a:solidFill>
              </a:rPr>
              <a:t>Auth → Customer</a:t>
            </a:r>
          </a:p>
          <a:p>
            <a:pPr algn="ctr">
              <a:buNone/>
              <a:defRPr sz="1350" b="0">
                <a:solidFill>
                  <a:srgbClr val="1E1E1E"/>
                </a:solidFill>
              </a:defRPr>
            </a:pPr>
            <a:r>
              <a:rPr sz="1350" b="0">
                <a:solidFill>
                  <a:srgbClr val="1E1E1E"/>
                </a:solidFill>
              </a:rPr>
              <a:t>Order → Catalog</a:t>
            </a:r>
          </a:p>
          <a:p>
            <a:pPr algn="ctr">
              <a:buNone/>
              <a:defRPr sz="1350" b="0">
                <a:solidFill>
                  <a:srgbClr val="1E1E1E"/>
                </a:solidFill>
              </a:defRPr>
            </a:pPr>
            <a:r>
              <a:rPr sz="1350" b="0">
                <a:solidFill>
                  <a:srgbClr val="1E1E1E"/>
                </a:solidFill>
              </a:rPr>
              <a:t>Order → Billing / Warehouse / Delivery</a:t>
            </a:r>
          </a:p>
          <a:p>
            <a:endParaRPr sz="1350" b="0">
              <a:solidFill>
                <a:srgbClr val="1E1E1E"/>
              </a:solidFill>
            </a:endParaRPr>
          </a:p>
          <a:p>
            <a:pPr algn="ctr">
              <a:buNone/>
              <a:defRPr sz="1350" b="0">
                <a:solidFill>
                  <a:srgbClr val="1E1E1E"/>
                </a:solidFill>
              </a:defRPr>
            </a:pPr>
            <a:r>
              <a:rPr sz="1350" b="0">
                <a:solidFill>
                  <a:srgbClr val="1E1E1E"/>
                </a:solidFill>
              </a:rPr>
              <a:t>Результат нужен для продолжения операции</a:t>
            </a:r>
          </a:p>
        </p:txBody>
      </p:sp>
      <p:sp>
        <p:nvSpPr>
          <p:cNvPr id="194" name="Прямоугольник: скругленные углы 193">
            <a:extLst>
              <a:ext uri="{FF2B5EF4-FFF2-40B4-BE49-F238E27FC236}">
                <a16:creationId xmlns:a16="http://schemas.microsoft.com/office/drawing/2014/main" id="{80684CAE-12B0-481A-99D7-230687D6C299}"/>
              </a:ext>
            </a:extLst>
          </p:cNvPr>
          <p:cNvSpPr>
            <a:spLocks noGrp="1"/>
          </p:cNvSpPr>
          <p:nvPr/>
        </p:nvSpPr>
        <p:spPr>
          <a:xfrm>
            <a:off x="5000625" y="1428750"/>
            <a:ext cx="3429000" cy="2571750"/>
          </a:xfrm>
          <a:prstGeom prst="roundRect">
            <a:avLst>
              <a:gd name="adj" fmla="val 2222"/>
            </a:avLst>
          </a:prstGeom>
          <a:solidFill>
            <a:srgbClr val="FFF8E1"/>
          </a:solidFill>
          <a:ln w="19050">
            <a:solidFill>
              <a:srgbClr val="FF8A00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350" b="0">
                <a:solidFill>
                  <a:srgbClr val="1E1E1E"/>
                </a:solidFill>
              </a:defRPr>
            </a:pPr>
            <a:r>
              <a:rPr sz="1350" b="0">
                <a:solidFill>
                  <a:srgbClr val="1E1E1E"/>
                </a:solidFill>
              </a:rPr>
              <a:t>Асинхронно — Apache Kafka</a:t>
            </a:r>
          </a:p>
          <a:p>
            <a:endParaRPr sz="1350" b="0">
              <a:solidFill>
                <a:srgbClr val="1E1E1E"/>
              </a:solidFill>
            </a:endParaRPr>
          </a:p>
          <a:p>
            <a:pPr algn="ctr">
              <a:buNone/>
              <a:defRPr sz="1350" b="0">
                <a:solidFill>
                  <a:srgbClr val="1E1E1E"/>
                </a:solidFill>
              </a:defRPr>
            </a:pPr>
            <a:r>
              <a:rPr sz="1350" b="0">
                <a:solidFill>
                  <a:srgbClr val="1E1E1E"/>
                </a:solidFill>
              </a:rPr>
              <a:t>Auth → Billing</a:t>
            </a:r>
          </a:p>
          <a:p>
            <a:pPr algn="ctr">
              <a:buNone/>
              <a:defRPr sz="1350" b="0">
                <a:solidFill>
                  <a:srgbClr val="1E1E1E"/>
                </a:solidFill>
              </a:defRPr>
            </a:pPr>
            <a:r>
              <a:rPr sz="1350" b="0">
                <a:solidFill>
                  <a:srgbClr val="1E1E1E"/>
                </a:solidFill>
              </a:rPr>
              <a:t>Catalog → Warehouse</a:t>
            </a:r>
          </a:p>
          <a:p>
            <a:pPr algn="ctr">
              <a:buNone/>
              <a:defRPr sz="1350" b="0">
                <a:solidFill>
                  <a:srgbClr val="1E1E1E"/>
                </a:solidFill>
              </a:defRPr>
            </a:pPr>
            <a:r>
              <a:rPr sz="1350" b="0">
                <a:solidFill>
                  <a:srgbClr val="1E1E1E"/>
                </a:solidFill>
              </a:rPr>
              <a:t>Warehouse → Catalog</a:t>
            </a:r>
          </a:p>
          <a:p>
            <a:pPr algn="ctr">
              <a:buNone/>
              <a:defRPr sz="1350" b="0">
                <a:solidFill>
                  <a:srgbClr val="1E1E1E"/>
                </a:solidFill>
              </a:defRPr>
            </a:pPr>
            <a:r>
              <a:rPr sz="1350" b="0">
                <a:solidFill>
                  <a:srgbClr val="1E1E1E"/>
                </a:solidFill>
              </a:rPr>
              <a:t>Order → Notification</a:t>
            </a:r>
          </a:p>
          <a:p>
            <a:endParaRPr sz="1350" b="0">
              <a:solidFill>
                <a:srgbClr val="1E1E1E"/>
              </a:solidFill>
            </a:endParaRPr>
          </a:p>
          <a:p>
            <a:pPr algn="ctr">
              <a:buNone/>
              <a:defRPr sz="1350" b="0">
                <a:solidFill>
                  <a:srgbClr val="1E1E1E"/>
                </a:solidFill>
              </a:defRPr>
            </a:pPr>
            <a:r>
              <a:rPr sz="1350" b="0">
                <a:solidFill>
                  <a:srgbClr val="1E1E1E"/>
                </a:solidFill>
              </a:rPr>
              <a:t>События доставляются независимо</a:t>
            </a:r>
          </a:p>
        </p:txBody>
      </p:sp>
      <p:sp>
        <p:nvSpPr>
          <p:cNvPr id="195" name="Прямоугольник 194">
            <a:extLst>
              <a:ext uri="{FF2B5EF4-FFF2-40B4-BE49-F238E27FC236}">
                <a16:creationId xmlns:a16="http://schemas.microsoft.com/office/drawing/2014/main" id="{57CFA638-F0F2-423E-9C18-C6A800EBEA96}"/>
              </a:ext>
            </a:extLst>
          </p:cNvPr>
          <p:cNvSpPr>
            <a:spLocks noGrp="1"/>
          </p:cNvSpPr>
          <p:nvPr/>
        </p:nvSpPr>
        <p:spPr>
          <a:xfrm>
            <a:off x="1524000" y="4171950"/>
            <a:ext cx="609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75" b="1">
                <a:solidFill>
                  <a:srgbClr val="1E1E1E"/>
                </a:solidFill>
              </a:defRPr>
            </a:pPr>
            <a:r>
              <a:rPr sz="1275" b="1">
                <a:solidFill>
                  <a:srgbClr val="1E1E1E"/>
                </a:solidFill>
              </a:rPr>
              <a:t>Transactional Outbox + Inbox защищают доставку от потерь и повторов</a:t>
            </a:r>
          </a:p>
        </p:txBody>
      </p:sp>
    </p:spTree>
    <p:extLst>
      <p:ext uri="{BB962C8B-B14F-4D97-AF65-F5344CB8AC3E}">
        <p14:creationId xmlns:p14="http://schemas.microsoft.com/office/powerpoint/2010/main" val="1426247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3cef942d38_1_142">
            <a:extLst>
              <a:ext uri="{FF2B5EF4-FFF2-40B4-BE49-F238E27FC236}">
                <a16:creationId xmlns:a16="http://schemas.microsoft.com/office/drawing/2014/main" id="{9BFD2107-2DC6-4400-98F0-41BE10EFD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sz="3000"/>
              <a:t>Схема мониторинга</a:t>
            </a: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endParaRPr sz="3000"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endParaRPr sz="3000"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endParaRPr sz="3000"/>
          </a:p>
        </p:txBody>
      </p:sp>
      <p:sp>
        <p:nvSpPr>
          <p:cNvPr id="204" name="Google Shape;204;g33cef942d38_1_142">
            <a:extLst>
              <a:ext uri="{FF2B5EF4-FFF2-40B4-BE49-F238E27FC236}">
                <a16:creationId xmlns:a16="http://schemas.microsoft.com/office/drawing/2014/main" id="{CCCD926D-6F4F-48B9-B453-25FA0CBCF6A4}"/>
              </a:ext>
            </a:extLst>
          </p:cNvPr>
          <p:cNvSpPr>
            <a:spLocks noGrp="1"/>
          </p:cNvSpPr>
          <p:nvPr/>
        </p:nvSpPr>
        <p:spPr>
          <a:xfrm>
            <a:off x="5146325" y="1878075"/>
            <a:ext cx="3257100" cy="644700"/>
          </a:xfrm>
          <a:prstGeom prst="wedgeRectCallout">
            <a:avLst>
              <a:gd name="adj1" fmla="val -20075"/>
              <a:gd name="adj2" fmla="val 76031"/>
            </a:avLst>
          </a:prstGeom>
          <a:solidFill>
            <a:srgbClr val="F3F3F3"/>
          </a:solidFill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98000" tIns="126000" rIns="198000" bIns="1260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Prometheus + Grafana • Elasticsearch + Kibana</a:t>
            </a:r>
          </a:p>
        </p:txBody>
      </p:sp>
      <p:sp>
        <p:nvSpPr>
          <p:cNvPr id="205" name="Прямоугольник 204">
            <a:extLst>
              <a:ext uri="{FF2B5EF4-FFF2-40B4-BE49-F238E27FC236}">
                <a16:creationId xmlns:a16="http://schemas.microsoft.com/office/drawing/2014/main" id="{45F18D0C-E4C2-4385-8245-837D90C50183}"/>
              </a:ext>
            </a:extLst>
          </p:cNvPr>
          <p:cNvSpPr>
            <a:spLocks noGrp="1"/>
          </p:cNvSpPr>
          <p:nvPr/>
        </p:nvSpPr>
        <p:spPr>
          <a:xfrm>
            <a:off x="619125" y="1190625"/>
            <a:ext cx="3714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E1E1E"/>
                </a:solidFill>
              </a:defRPr>
            </a:pPr>
            <a:r>
              <a:rPr sz="1200" b="1">
                <a:solidFill>
                  <a:srgbClr val="1E1E1E"/>
                </a:solidFill>
              </a:rPr>
              <a:t>Метрики сервисов и PostgreSQL</a:t>
            </a:r>
          </a:p>
        </p:txBody>
      </p:sp>
      <p:sp>
        <p:nvSpPr>
          <p:cNvPr id="206" name="Прямоугольник 205">
            <a:extLst>
              <a:ext uri="{FF2B5EF4-FFF2-40B4-BE49-F238E27FC236}">
                <a16:creationId xmlns:a16="http://schemas.microsoft.com/office/drawing/2014/main" id="{578D5C46-564A-4AA3-A550-E9FD30C12D32}"/>
              </a:ext>
            </a:extLst>
          </p:cNvPr>
          <p:cNvSpPr>
            <a:spLocks noGrp="1"/>
          </p:cNvSpPr>
          <p:nvPr/>
        </p:nvSpPr>
        <p:spPr>
          <a:xfrm>
            <a:off x="4810125" y="1190625"/>
            <a:ext cx="3714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E1E1E"/>
                </a:solidFill>
              </a:defRPr>
            </a:pPr>
            <a:r>
              <a:rPr sz="1200" b="1">
                <a:solidFill>
                  <a:srgbClr val="1E1E1E"/>
                </a:solidFill>
              </a:rPr>
              <a:t>Сквозной Request ID и тела HTTP-запросов</a:t>
            </a:r>
          </a:p>
        </p:txBody>
      </p:sp>
      <p:pic>
        <p:nvPicPr>
          <p:cNvPr id="217" name="Рисунок 2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23875" y="1601391"/>
            <a:ext cx="3905250" cy="1854994"/>
          </a:xfrm>
          <a:prstGeom prst="rect">
            <a:avLst/>
          </a:prstGeom>
        </p:spPr>
      </p:pic>
      <p:pic>
        <p:nvPicPr>
          <p:cNvPr id="218" name="Рисунок 2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14875" y="1592238"/>
            <a:ext cx="3905250" cy="1873300"/>
          </a:xfrm>
          <a:prstGeom prst="rect">
            <a:avLst/>
          </a:prstGeom>
        </p:spPr>
      </p:pic>
      <p:sp>
        <p:nvSpPr>
          <p:cNvPr id="209" name="Прямоугольник: скругленные углы 208">
            <a:extLst>
              <a:ext uri="{FF2B5EF4-FFF2-40B4-BE49-F238E27FC236}">
                <a16:creationId xmlns:a16="http://schemas.microsoft.com/office/drawing/2014/main" id="{7DB71076-F271-4192-9149-A372570C93B2}"/>
              </a:ext>
            </a:extLst>
          </p:cNvPr>
          <p:cNvSpPr>
            <a:spLocks noGrp="1"/>
          </p:cNvSpPr>
          <p:nvPr/>
        </p:nvSpPr>
        <p:spPr>
          <a:xfrm>
            <a:off x="809625" y="3762375"/>
            <a:ext cx="3333750" cy="457200"/>
          </a:xfrm>
          <a:prstGeom prst="roundRect">
            <a:avLst>
              <a:gd name="adj" fmla="val 12500"/>
            </a:avLst>
          </a:prstGeom>
          <a:solidFill>
            <a:srgbClr val="E8F5E9"/>
          </a:solidFill>
          <a:ln w="9525">
            <a:solidFill>
              <a:srgbClr val="43A04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E1E1E"/>
                </a:solidFill>
              </a:defRPr>
            </a:pPr>
            <a:r>
              <a:rPr sz="1200" b="1">
                <a:solidFill>
                  <a:srgbClr val="1E1E1E"/>
                </a:solidFill>
              </a:rPr>
              <a:t>ServiceMonitor → Prometheus → Grafana</a:t>
            </a:r>
          </a:p>
        </p:txBody>
      </p:sp>
      <p:sp>
        <p:nvSpPr>
          <p:cNvPr id="210" name="Прямоугольник: скругленные углы 209">
            <a:extLst>
              <a:ext uri="{FF2B5EF4-FFF2-40B4-BE49-F238E27FC236}">
                <a16:creationId xmlns:a16="http://schemas.microsoft.com/office/drawing/2014/main" id="{85E78232-B921-48CC-AC0A-8661933212E6}"/>
              </a:ext>
            </a:extLst>
          </p:cNvPr>
          <p:cNvSpPr>
            <a:spLocks noGrp="1"/>
          </p:cNvSpPr>
          <p:nvPr/>
        </p:nvSpPr>
        <p:spPr>
          <a:xfrm>
            <a:off x="4905375" y="3762375"/>
            <a:ext cx="3524250" cy="457200"/>
          </a:xfrm>
          <a:prstGeom prst="roundRect">
            <a:avLst>
              <a:gd name="adj" fmla="val 12500"/>
            </a:avLst>
          </a:prstGeom>
          <a:solidFill>
            <a:srgbClr val="FFF8E1"/>
          </a:solidFill>
          <a:ln w="9525">
            <a:solidFill>
              <a:srgbClr val="FF8A00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E1E1E"/>
                </a:solidFill>
              </a:defRPr>
            </a:pPr>
            <a:r>
              <a:rPr sz="1200" b="1">
                <a:solidFill>
                  <a:srgbClr val="1E1E1E"/>
                </a:solidFill>
              </a:rPr>
              <a:t>Serilog → Filebeat → Elasticsearch → Kibana</a:t>
            </a:r>
          </a:p>
        </p:txBody>
      </p:sp>
    </p:spTree>
    <p:extLst>
      <p:ext uri="{BB962C8B-B14F-4D97-AF65-F5344CB8AC3E}">
        <p14:creationId xmlns:p14="http://schemas.microsoft.com/office/powerpoint/2010/main" val="3202279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6d2f09e360_0_0">
            <a:extLst>
              <a:ext uri="{FF2B5EF4-FFF2-40B4-BE49-F238E27FC236}">
                <a16:creationId xmlns:a16="http://schemas.microsoft.com/office/drawing/2014/main" id="{DE8D7336-1C27-4E92-8DD2-E6300C1F6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333375"/>
            <a:ext cx="8001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sz="3000"/>
              <a:t>Сложности и способы их решения</a:t>
            </a:r>
          </a:p>
        </p:txBody>
      </p:sp>
      <p:sp>
        <p:nvSpPr>
          <p:cNvPr id="210" name="Прямоугольник: скругленные углы 209">
            <a:extLst>
              <a:ext uri="{FF2B5EF4-FFF2-40B4-BE49-F238E27FC236}">
                <a16:creationId xmlns:a16="http://schemas.microsoft.com/office/drawing/2014/main" id="{E28133E9-F314-4963-8171-3B76EE2086E1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2952750" cy="666750"/>
          </a:xfrm>
          <a:prstGeom prst="roundRect">
            <a:avLst>
              <a:gd name="adj" fmla="val 8571"/>
            </a:avLst>
          </a:prstGeom>
          <a:solidFill>
            <a:srgbClr val="FFEBEE"/>
          </a:solidFill>
          <a:ln w="9525">
            <a:solidFill>
              <a:srgbClr val="ED1C24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E1E1E"/>
                </a:solidFill>
              </a:defRPr>
            </a:pPr>
            <a:r>
              <a:rPr sz="1350" b="1">
                <a:solidFill>
                  <a:srgbClr val="1E1E1E"/>
                </a:solidFill>
              </a:rPr>
              <a:t>Распределённая транзакция</a:t>
            </a:r>
          </a:p>
        </p:txBody>
      </p:sp>
      <p:sp>
        <p:nvSpPr>
          <p:cNvPr id="211" name="Прямоугольник: скругленные углы 210">
            <a:extLst>
              <a:ext uri="{FF2B5EF4-FFF2-40B4-BE49-F238E27FC236}">
                <a16:creationId xmlns:a16="http://schemas.microsoft.com/office/drawing/2014/main" id="{3654EC22-47B9-455E-880C-47039B2BF506}"/>
              </a:ext>
            </a:extLst>
          </p:cNvPr>
          <p:cNvSpPr>
            <a:spLocks noGrp="1"/>
          </p:cNvSpPr>
          <p:nvPr/>
        </p:nvSpPr>
        <p:spPr>
          <a:xfrm>
            <a:off x="5095875" y="1381125"/>
            <a:ext cx="3429000" cy="666750"/>
          </a:xfrm>
          <a:prstGeom prst="roundRect">
            <a:avLst>
              <a:gd name="adj" fmla="val 8571"/>
            </a:avLst>
          </a:prstGeom>
          <a:solidFill>
            <a:srgbClr val="E8F5E9"/>
          </a:solidFill>
          <a:ln w="9525">
            <a:solidFill>
              <a:srgbClr val="43A04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275" b="1">
                <a:solidFill>
                  <a:srgbClr val="1E1E1E"/>
                </a:solidFill>
              </a:defRPr>
            </a:pPr>
            <a:r>
              <a:rPr sz="1275" b="1">
                <a:solidFill>
                  <a:srgbClr val="1E1E1E"/>
                </a:solidFill>
              </a:rPr>
              <a:t>Saga orchestration и компенсации</a:t>
            </a:r>
          </a:p>
        </p:txBody>
      </p:sp>
      <p:cxnSp>
        <p:nvCxnSpPr>
          <p:cNvPr id="232" name="Прямая со стрелкой 231"/>
          <p:cNvCxnSpPr>
            <a:stCxn id="210" idx="3"/>
            <a:endCxn id="211" idx="1"/>
          </p:cNvCxnSpPr>
          <p:nvPr/>
        </p:nvCxnSpPr>
        <p:spPr>
          <a:xfrm>
            <a:off x="3571875" y="1714500"/>
            <a:ext cx="1524000" cy="0"/>
          </a:xfrm>
          <a:prstGeom prst="straightConnector1">
            <a:avLst/>
          </a:prstGeom>
          <a:ln w="28575">
            <a:solidFill>
              <a:srgbClr val="FF8A00"/>
            </a:solidFill>
            <a:prstDash val="solid"/>
            <a:tailEnd type="arrow" w="med" len="med"/>
          </a:ln>
        </p:spPr>
      </p:cxnSp>
      <p:sp>
        <p:nvSpPr>
          <p:cNvPr id="213" name="Прямоугольник: скругленные углы 212">
            <a:extLst>
              <a:ext uri="{FF2B5EF4-FFF2-40B4-BE49-F238E27FC236}">
                <a16:creationId xmlns:a16="http://schemas.microsoft.com/office/drawing/2014/main" id="{8B1ED35A-D218-4E66-9A06-70B6F87F20F8}"/>
              </a:ext>
            </a:extLst>
          </p:cNvPr>
          <p:cNvSpPr>
            <a:spLocks noGrp="1"/>
          </p:cNvSpPr>
          <p:nvPr/>
        </p:nvSpPr>
        <p:spPr>
          <a:xfrm>
            <a:off x="619125" y="2381250"/>
            <a:ext cx="2952750" cy="666750"/>
          </a:xfrm>
          <a:prstGeom prst="roundRect">
            <a:avLst>
              <a:gd name="adj" fmla="val 8571"/>
            </a:avLst>
          </a:prstGeom>
          <a:solidFill>
            <a:srgbClr val="FFEBEE"/>
          </a:solidFill>
          <a:ln w="9525">
            <a:solidFill>
              <a:srgbClr val="ED1C24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E1E1E"/>
                </a:solidFill>
              </a:defRPr>
            </a:pPr>
            <a:r>
              <a:rPr sz="1350" b="1">
                <a:solidFill>
                  <a:srgbClr val="1E1E1E"/>
                </a:solidFill>
              </a:rPr>
              <a:t>Надёжность сообщений</a:t>
            </a:r>
          </a:p>
        </p:txBody>
      </p:sp>
      <p:sp>
        <p:nvSpPr>
          <p:cNvPr id="214" name="Прямоугольник: скругленные углы 213">
            <a:extLst>
              <a:ext uri="{FF2B5EF4-FFF2-40B4-BE49-F238E27FC236}">
                <a16:creationId xmlns:a16="http://schemas.microsoft.com/office/drawing/2014/main" id="{731CBDC1-5689-4153-B44E-60036784F398}"/>
              </a:ext>
            </a:extLst>
          </p:cNvPr>
          <p:cNvSpPr>
            <a:spLocks noGrp="1"/>
          </p:cNvSpPr>
          <p:nvPr/>
        </p:nvSpPr>
        <p:spPr>
          <a:xfrm>
            <a:off x="5095875" y="2381250"/>
            <a:ext cx="3429000" cy="666750"/>
          </a:xfrm>
          <a:prstGeom prst="roundRect">
            <a:avLst>
              <a:gd name="adj" fmla="val 8571"/>
            </a:avLst>
          </a:prstGeom>
          <a:solidFill>
            <a:srgbClr val="E8F5E9"/>
          </a:solidFill>
          <a:ln w="9525">
            <a:solidFill>
              <a:srgbClr val="43A04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275" b="1">
                <a:solidFill>
                  <a:srgbClr val="1E1E1E"/>
                </a:solidFill>
              </a:defRPr>
            </a:pPr>
            <a:r>
              <a:rPr sz="1275" b="1">
                <a:solidFill>
                  <a:srgbClr val="1E1E1E"/>
                </a:solidFill>
              </a:rPr>
              <a:t>Transactional Outbox, Inbox и идемпотентность</a:t>
            </a:r>
          </a:p>
        </p:txBody>
      </p:sp>
      <p:cxnSp>
        <p:nvCxnSpPr>
          <p:cNvPr id="235" name="Прямая со стрелкой 234"/>
          <p:cNvCxnSpPr>
            <a:stCxn id="213" idx="3"/>
            <a:endCxn id="214" idx="1"/>
          </p:cNvCxnSpPr>
          <p:nvPr/>
        </p:nvCxnSpPr>
        <p:spPr>
          <a:xfrm>
            <a:off x="3571875" y="2714625"/>
            <a:ext cx="1524000" cy="0"/>
          </a:xfrm>
          <a:prstGeom prst="straightConnector1">
            <a:avLst/>
          </a:prstGeom>
          <a:ln w="28575">
            <a:solidFill>
              <a:srgbClr val="FF8A00"/>
            </a:solidFill>
            <a:prstDash val="solid"/>
            <a:tailEnd type="arrow" w="med" len="med"/>
          </a:ln>
        </p:spPr>
      </p:cxnSp>
      <p:sp>
        <p:nvSpPr>
          <p:cNvPr id="216" name="Прямоугольник: скругленные углы 215">
            <a:extLst>
              <a:ext uri="{FF2B5EF4-FFF2-40B4-BE49-F238E27FC236}">
                <a16:creationId xmlns:a16="http://schemas.microsoft.com/office/drawing/2014/main" id="{7BE45008-22F8-4601-B9A8-756541C84FBE}"/>
              </a:ext>
            </a:extLst>
          </p:cNvPr>
          <p:cNvSpPr>
            <a:spLocks noGrp="1"/>
          </p:cNvSpPr>
          <p:nvPr/>
        </p:nvSpPr>
        <p:spPr>
          <a:xfrm>
            <a:off x="619125" y="3381375"/>
            <a:ext cx="2952750" cy="666750"/>
          </a:xfrm>
          <a:prstGeom prst="roundRect">
            <a:avLst>
              <a:gd name="adj" fmla="val 8571"/>
            </a:avLst>
          </a:prstGeom>
          <a:solidFill>
            <a:srgbClr val="FFEBEE"/>
          </a:solidFill>
          <a:ln w="9525">
            <a:solidFill>
              <a:srgbClr val="ED1C24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E1E1E"/>
                </a:solidFill>
              </a:defRPr>
            </a:pPr>
            <a:r>
              <a:rPr sz="1350" b="1">
                <a:solidFill>
                  <a:srgbClr val="1E1E1E"/>
                </a:solidFill>
              </a:rPr>
              <a:t>Диагностика восьми сервисов</a:t>
            </a:r>
          </a:p>
        </p:txBody>
      </p:sp>
      <p:sp>
        <p:nvSpPr>
          <p:cNvPr id="217" name="Прямоугольник: скругленные углы 216">
            <a:extLst>
              <a:ext uri="{FF2B5EF4-FFF2-40B4-BE49-F238E27FC236}">
                <a16:creationId xmlns:a16="http://schemas.microsoft.com/office/drawing/2014/main" id="{2101C6E9-C296-4CE2-9A9E-6E3F68C5E114}"/>
              </a:ext>
            </a:extLst>
          </p:cNvPr>
          <p:cNvSpPr>
            <a:spLocks noGrp="1"/>
          </p:cNvSpPr>
          <p:nvPr/>
        </p:nvSpPr>
        <p:spPr>
          <a:xfrm>
            <a:off x="5095875" y="3381375"/>
            <a:ext cx="3429000" cy="666750"/>
          </a:xfrm>
          <a:prstGeom prst="roundRect">
            <a:avLst>
              <a:gd name="adj" fmla="val 8571"/>
            </a:avLst>
          </a:prstGeom>
          <a:solidFill>
            <a:srgbClr val="E8F5E9"/>
          </a:solidFill>
          <a:ln w="9525">
            <a:solidFill>
              <a:srgbClr val="43A04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275" b="1">
                <a:solidFill>
                  <a:srgbClr val="1E1E1E"/>
                </a:solidFill>
              </a:defRPr>
            </a:pPr>
            <a:r>
              <a:rPr sz="1275" b="1">
                <a:solidFill>
                  <a:srgbClr val="1E1E1E"/>
                </a:solidFill>
              </a:rPr>
              <a:t>Request ID, Grafana и централизованные логи</a:t>
            </a:r>
          </a:p>
        </p:txBody>
      </p:sp>
      <p:cxnSp>
        <p:nvCxnSpPr>
          <p:cNvPr id="238" name="Прямая со стрелкой 237"/>
          <p:cNvCxnSpPr>
            <a:stCxn id="216" idx="3"/>
            <a:endCxn id="217" idx="1"/>
          </p:cNvCxnSpPr>
          <p:nvPr/>
        </p:nvCxnSpPr>
        <p:spPr>
          <a:xfrm>
            <a:off x="3571875" y="3714750"/>
            <a:ext cx="1524000" cy="0"/>
          </a:xfrm>
          <a:prstGeom prst="straightConnector1">
            <a:avLst/>
          </a:prstGeom>
          <a:ln w="28575">
            <a:solidFill>
              <a:srgbClr val="FF8A00"/>
            </a:solidFill>
            <a:prstDash val="soli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4731632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lide-title">
            <a:extLst>
              <a:ext uri="{FF2B5EF4-FFF2-40B4-BE49-F238E27FC236}">
                <a16:creationId xmlns:a16="http://schemas.microsoft.com/office/drawing/2014/main" id="{396F37DD-EE7D-4F5F-8EAE-BD689E90F9A0}"/>
              </a:ext>
            </a:extLst>
          </p:cNvPr>
          <p:cNvSpPr>
            <a:spLocks noGrp="1"/>
          </p:cNvSpPr>
          <p:nvPr/>
        </p:nvSpPr>
        <p:spPr>
          <a:xfrm>
            <a:off x="500539" y="330708"/>
            <a:ext cx="8520589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>
                <a:solidFill>
                  <a:srgbClr val="000000"/>
                </a:solidFill>
              </a:defRPr>
            </a:pPr>
            <a:r>
              <a:rPr sz="3000">
                <a:solidFill>
                  <a:srgbClr val="000000"/>
                </a:solidFill>
              </a:rPr>
              <a:t>Выводы</a:t>
            </a:r>
          </a:p>
        </p:txBody>
      </p:sp>
      <p:sp>
        <p:nvSpPr>
          <p:cNvPr id="219" name="conclusion-lead">
            <a:extLst>
              <a:ext uri="{FF2B5EF4-FFF2-40B4-BE49-F238E27FC236}">
                <a16:creationId xmlns:a16="http://schemas.microsoft.com/office/drawing/2014/main" id="{88DF0694-D7BB-4C85-8827-A7F0D42710BC}"/>
              </a:ext>
            </a:extLst>
          </p:cNvPr>
          <p:cNvSpPr>
            <a:spLocks noGrp="1"/>
          </p:cNvSpPr>
          <p:nvPr/>
        </p:nvSpPr>
        <p:spPr>
          <a:xfrm>
            <a:off x="500539" y="978408"/>
            <a:ext cx="78581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E1E1E"/>
                </a:solidFill>
              </a:defRPr>
            </a:pPr>
            <a:r>
              <a:rPr dirty="0" err="1">
                <a:solidFill>
                  <a:srgbClr val="1E1E1E"/>
                </a:solidFill>
              </a:rPr>
              <a:t>Цель</a:t>
            </a:r>
            <a:r>
              <a:rPr dirty="0">
                <a:solidFill>
                  <a:srgbClr val="1E1E1E"/>
                </a:solidFill>
              </a:rPr>
              <a:t> </a:t>
            </a:r>
            <a:r>
              <a:rPr dirty="0" err="1">
                <a:solidFill>
                  <a:srgbClr val="1E1E1E"/>
                </a:solidFill>
              </a:rPr>
              <a:t>достигнута</a:t>
            </a:r>
            <a:r>
              <a:rPr dirty="0">
                <a:solidFill>
                  <a:srgbClr val="1E1E1E"/>
                </a:solidFill>
              </a:rPr>
              <a:t>: </a:t>
            </a:r>
            <a:r>
              <a:rPr dirty="0" err="1">
                <a:solidFill>
                  <a:srgbClr val="1E1E1E"/>
                </a:solidFill>
              </a:rPr>
              <a:t>реализована</a:t>
            </a:r>
            <a:r>
              <a:rPr dirty="0">
                <a:solidFill>
                  <a:srgbClr val="1E1E1E"/>
                </a:solidFill>
              </a:rPr>
              <a:t> </a:t>
            </a:r>
            <a:r>
              <a:rPr dirty="0" err="1">
                <a:solidFill>
                  <a:srgbClr val="1E1E1E"/>
                </a:solidFill>
              </a:rPr>
              <a:t>работоспособная</a:t>
            </a:r>
            <a:r>
              <a:rPr dirty="0">
                <a:solidFill>
                  <a:srgbClr val="1E1E1E"/>
                </a:solidFill>
              </a:rPr>
              <a:t> backend-</a:t>
            </a:r>
            <a:r>
              <a:rPr dirty="0" err="1">
                <a:solidFill>
                  <a:srgbClr val="1E1E1E"/>
                </a:solidFill>
              </a:rPr>
              <a:t>платформа</a:t>
            </a:r>
            <a:r>
              <a:rPr dirty="0">
                <a:solidFill>
                  <a:srgbClr val="1E1E1E"/>
                </a:solidFill>
              </a:rPr>
              <a:t> </a:t>
            </a:r>
            <a:r>
              <a:rPr dirty="0" err="1">
                <a:solidFill>
                  <a:srgbClr val="1E1E1E"/>
                </a:solidFill>
              </a:rPr>
              <a:t>интернет-магазина</a:t>
            </a:r>
            <a:r>
              <a:rPr dirty="0">
                <a:solidFill>
                  <a:srgbClr val="1E1E1E"/>
                </a:solidFill>
              </a:rPr>
              <a:t>.</a:t>
            </a:r>
          </a:p>
        </p:txBody>
      </p:sp>
      <p:sp>
        <p:nvSpPr>
          <p:cNvPr id="220" name="conclusion-number-1">
            <a:extLst>
              <a:ext uri="{FF2B5EF4-FFF2-40B4-BE49-F238E27FC236}">
                <a16:creationId xmlns:a16="http://schemas.microsoft.com/office/drawing/2014/main" id="{914A2B0F-5584-4418-8A81-573607B5D37E}"/>
              </a:ext>
            </a:extLst>
          </p:cNvPr>
          <p:cNvSpPr>
            <a:spLocks noGrp="1"/>
          </p:cNvSpPr>
          <p:nvPr/>
        </p:nvSpPr>
        <p:spPr>
          <a:xfrm>
            <a:off x="762000" y="2000250"/>
            <a:ext cx="361950" cy="361950"/>
          </a:xfrm>
          <a:prstGeom prst="ellipse">
            <a:avLst/>
          </a:prstGeom>
          <a:solidFill>
            <a:srgbClr val="FFD54F"/>
          </a:solidFill>
          <a:ln w="9525">
            <a:solidFill>
              <a:srgbClr val="FF8A00"/>
            </a:solidFill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E1E1E"/>
                </a:solidFill>
              </a:defRPr>
            </a:pPr>
            <a:r>
              <a:rPr sz="1500" b="1">
                <a:solidFill>
                  <a:srgbClr val="1E1E1E"/>
                </a:solidFill>
              </a:rPr>
              <a:t>1</a:t>
            </a:r>
          </a:p>
        </p:txBody>
      </p:sp>
      <p:sp>
        <p:nvSpPr>
          <p:cNvPr id="221" name="conclusion-1">
            <a:extLst>
              <a:ext uri="{FF2B5EF4-FFF2-40B4-BE49-F238E27FC236}">
                <a16:creationId xmlns:a16="http://schemas.microsoft.com/office/drawing/2014/main" id="{75EF0BE9-00F1-4491-A1FA-8CFA15ADF8DE}"/>
              </a:ext>
            </a:extLst>
          </p:cNvPr>
          <p:cNvSpPr>
            <a:spLocks noGrp="1"/>
          </p:cNvSpPr>
          <p:nvPr/>
        </p:nvSpPr>
        <p:spPr>
          <a:xfrm>
            <a:off x="1333500" y="1990725"/>
            <a:ext cx="695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E1E1E"/>
                </a:solidFill>
              </a:defRPr>
            </a:pPr>
            <a:r>
              <a:rPr sz="1575" b="0">
                <a:solidFill>
                  <a:srgbClr val="1E1E1E"/>
                </a:solidFill>
              </a:rPr>
              <a:t>Восемь микросервисов разделены по бизнес-ответственности</a:t>
            </a:r>
          </a:p>
        </p:txBody>
      </p:sp>
      <p:sp>
        <p:nvSpPr>
          <p:cNvPr id="222" name="conclusion-number-2">
            <a:extLst>
              <a:ext uri="{FF2B5EF4-FFF2-40B4-BE49-F238E27FC236}">
                <a16:creationId xmlns:a16="http://schemas.microsoft.com/office/drawing/2014/main" id="{6F537444-B4D9-4916-ABAE-7C11E0012DC5}"/>
              </a:ext>
            </a:extLst>
          </p:cNvPr>
          <p:cNvSpPr>
            <a:spLocks noGrp="1"/>
          </p:cNvSpPr>
          <p:nvPr/>
        </p:nvSpPr>
        <p:spPr>
          <a:xfrm>
            <a:off x="762000" y="2628900"/>
            <a:ext cx="361950" cy="361950"/>
          </a:xfrm>
          <a:prstGeom prst="ellipse">
            <a:avLst/>
          </a:prstGeom>
          <a:solidFill>
            <a:srgbClr val="FFD54F"/>
          </a:solidFill>
          <a:ln w="9525">
            <a:solidFill>
              <a:srgbClr val="FF8A00"/>
            </a:solidFill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E1E1E"/>
                </a:solidFill>
              </a:defRPr>
            </a:pPr>
            <a:r>
              <a:rPr sz="1500" b="1">
                <a:solidFill>
                  <a:srgbClr val="1E1E1E"/>
                </a:solidFill>
              </a:rPr>
              <a:t>2</a:t>
            </a:r>
          </a:p>
        </p:txBody>
      </p:sp>
      <p:sp>
        <p:nvSpPr>
          <p:cNvPr id="223" name="conclusion-2">
            <a:extLst>
              <a:ext uri="{FF2B5EF4-FFF2-40B4-BE49-F238E27FC236}">
                <a16:creationId xmlns:a16="http://schemas.microsoft.com/office/drawing/2014/main" id="{5D31BAA9-D4CB-42A2-B842-ACB5FDDDCE56}"/>
              </a:ext>
            </a:extLst>
          </p:cNvPr>
          <p:cNvSpPr>
            <a:spLocks noGrp="1"/>
          </p:cNvSpPr>
          <p:nvPr/>
        </p:nvSpPr>
        <p:spPr>
          <a:xfrm>
            <a:off x="1333500" y="2619375"/>
            <a:ext cx="695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E1E1E"/>
                </a:solidFill>
              </a:defRPr>
            </a:pPr>
            <a:r>
              <a:rPr sz="1575" b="0">
                <a:solidFill>
                  <a:srgbClr val="1E1E1E"/>
                </a:solidFill>
              </a:rPr>
              <a:t>Полный путь заказа реализован через Saga с компенсациями</a:t>
            </a:r>
          </a:p>
        </p:txBody>
      </p:sp>
      <p:sp>
        <p:nvSpPr>
          <p:cNvPr id="224" name="conclusion-number-3">
            <a:extLst>
              <a:ext uri="{FF2B5EF4-FFF2-40B4-BE49-F238E27FC236}">
                <a16:creationId xmlns:a16="http://schemas.microsoft.com/office/drawing/2014/main" id="{C51B0368-4F06-421C-B259-B72D8B0DB699}"/>
              </a:ext>
            </a:extLst>
          </p:cNvPr>
          <p:cNvSpPr>
            <a:spLocks noGrp="1"/>
          </p:cNvSpPr>
          <p:nvPr/>
        </p:nvSpPr>
        <p:spPr>
          <a:xfrm>
            <a:off x="762000" y="3257550"/>
            <a:ext cx="361950" cy="361950"/>
          </a:xfrm>
          <a:prstGeom prst="ellipse">
            <a:avLst/>
          </a:prstGeom>
          <a:solidFill>
            <a:srgbClr val="FFD54F"/>
          </a:solidFill>
          <a:ln w="9525">
            <a:solidFill>
              <a:srgbClr val="FF8A00"/>
            </a:solidFill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E1E1E"/>
                </a:solidFill>
              </a:defRPr>
            </a:pPr>
            <a:r>
              <a:rPr sz="1500" b="1">
                <a:solidFill>
                  <a:srgbClr val="1E1E1E"/>
                </a:solidFill>
              </a:rPr>
              <a:t>3</a:t>
            </a:r>
          </a:p>
        </p:txBody>
      </p:sp>
      <p:sp>
        <p:nvSpPr>
          <p:cNvPr id="225" name="conclusion-3">
            <a:extLst>
              <a:ext uri="{FF2B5EF4-FFF2-40B4-BE49-F238E27FC236}">
                <a16:creationId xmlns:a16="http://schemas.microsoft.com/office/drawing/2014/main" id="{87010BFC-35C9-4CD3-8129-F0B129A1D7D2}"/>
              </a:ext>
            </a:extLst>
          </p:cNvPr>
          <p:cNvSpPr>
            <a:spLocks noGrp="1"/>
          </p:cNvSpPr>
          <p:nvPr/>
        </p:nvSpPr>
        <p:spPr>
          <a:xfrm>
            <a:off x="1333500" y="3248025"/>
            <a:ext cx="695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E1E1E"/>
                </a:solidFill>
              </a:defRPr>
            </a:pPr>
            <a:r>
              <a:rPr sz="1575" b="0">
                <a:solidFill>
                  <a:srgbClr val="1E1E1E"/>
                </a:solidFill>
              </a:rPr>
              <a:t>Outbox, Inbox и идемпотентность обеспечивают надёжность сообщений</a:t>
            </a:r>
          </a:p>
        </p:txBody>
      </p:sp>
      <p:sp>
        <p:nvSpPr>
          <p:cNvPr id="226" name="conclusion-number-4">
            <a:extLst>
              <a:ext uri="{FF2B5EF4-FFF2-40B4-BE49-F238E27FC236}">
                <a16:creationId xmlns:a16="http://schemas.microsoft.com/office/drawing/2014/main" id="{0DB98791-7AF4-43D7-8AFB-12B81DF01300}"/>
              </a:ext>
            </a:extLst>
          </p:cNvPr>
          <p:cNvSpPr>
            <a:spLocks noGrp="1"/>
          </p:cNvSpPr>
          <p:nvPr/>
        </p:nvSpPr>
        <p:spPr>
          <a:xfrm>
            <a:off x="762000" y="3886200"/>
            <a:ext cx="361950" cy="361950"/>
          </a:xfrm>
          <a:prstGeom prst="ellipse">
            <a:avLst/>
          </a:prstGeom>
          <a:solidFill>
            <a:srgbClr val="FFD54F"/>
          </a:solidFill>
          <a:ln w="9525">
            <a:solidFill>
              <a:srgbClr val="FF8A00"/>
            </a:solidFill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E1E1E"/>
                </a:solidFill>
              </a:defRPr>
            </a:pPr>
            <a:r>
              <a:rPr sz="1500" b="1">
                <a:solidFill>
                  <a:srgbClr val="1E1E1E"/>
                </a:solidFill>
              </a:rPr>
              <a:t>4</a:t>
            </a:r>
          </a:p>
        </p:txBody>
      </p:sp>
      <p:sp>
        <p:nvSpPr>
          <p:cNvPr id="227" name="conclusion-4">
            <a:extLst>
              <a:ext uri="{FF2B5EF4-FFF2-40B4-BE49-F238E27FC236}">
                <a16:creationId xmlns:a16="http://schemas.microsoft.com/office/drawing/2014/main" id="{13CBB23D-AF15-4732-8CB5-E0C98E699899}"/>
              </a:ext>
            </a:extLst>
          </p:cNvPr>
          <p:cNvSpPr>
            <a:spLocks noGrp="1"/>
          </p:cNvSpPr>
          <p:nvPr/>
        </p:nvSpPr>
        <p:spPr>
          <a:xfrm>
            <a:off x="1333500" y="3876675"/>
            <a:ext cx="695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E1E1E"/>
                </a:solidFill>
              </a:defRPr>
            </a:pPr>
            <a:r>
              <a:rPr sz="1575" b="0">
                <a:solidFill>
                  <a:srgbClr val="1E1E1E"/>
                </a:solidFill>
              </a:rPr>
              <a:t>Kubernetes, Grafana и ELK обеспечивают развёртывание и наблюдаемость</a:t>
            </a:r>
          </a:p>
        </p:txBody>
      </p:sp>
    </p:spTree>
    <p:extLst>
      <p:ext uri="{BB962C8B-B14F-4D97-AF65-F5344CB8AC3E}">
        <p14:creationId xmlns:p14="http://schemas.microsoft.com/office/powerpoint/2010/main" val="6569733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-title">
            <a:extLst>
              <a:ext uri="{FF2B5EF4-FFF2-40B4-BE49-F238E27FC236}">
                <a16:creationId xmlns:a16="http://schemas.microsoft.com/office/drawing/2014/main" id="{B3CC77E6-29D5-4016-B9E5-644AAF813AE3}"/>
              </a:ext>
            </a:extLst>
          </p:cNvPr>
          <p:cNvSpPr>
            <a:spLocks noGrp="1"/>
          </p:cNvSpPr>
          <p:nvPr/>
        </p:nvSpPr>
        <p:spPr>
          <a:xfrm>
            <a:off x="500539" y="330708"/>
            <a:ext cx="8520589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>
                <a:solidFill>
                  <a:srgbClr val="000000"/>
                </a:solidFill>
              </a:defRPr>
            </a:pPr>
            <a:r>
              <a:rPr sz="3000">
                <a:solidFill>
                  <a:srgbClr val="000000"/>
                </a:solidFill>
              </a:rPr>
              <a:t>Планы развития</a:t>
            </a:r>
          </a:p>
        </p:txBody>
      </p:sp>
      <p:sp>
        <p:nvSpPr>
          <p:cNvPr id="3" name="plan-number-1">
            <a:extLst>
              <a:ext uri="{FF2B5EF4-FFF2-40B4-BE49-F238E27FC236}">
                <a16:creationId xmlns:a16="http://schemas.microsoft.com/office/drawing/2014/main" id="{40950269-3DAC-4EBF-93E1-1E63C4FD597D}"/>
              </a:ext>
            </a:extLst>
          </p:cNvPr>
          <p:cNvSpPr>
            <a:spLocks noGrp="1"/>
          </p:cNvSpPr>
          <p:nvPr/>
        </p:nvSpPr>
        <p:spPr>
          <a:xfrm>
            <a:off x="569118" y="1481137"/>
            <a:ext cx="438150" cy="438150"/>
          </a:xfrm>
          <a:prstGeom prst="ellipse">
            <a:avLst/>
          </a:prstGeom>
          <a:solidFill>
            <a:srgbClr val="FFD54F"/>
          </a:solidFill>
          <a:ln w="9525">
            <a:solidFill>
              <a:srgbClr val="FF8A00"/>
            </a:solidFill>
            <a:prstDash val="solid"/>
          </a:ln>
        </p:spPr>
        <p:txBody>
          <a:bodyPr anchor="ctr"/>
          <a:lstStyle/>
          <a:p>
            <a:pPr algn="ctr">
              <a:defRPr sz="1650" b="1">
                <a:solidFill>
                  <a:srgbClr val="1E1E1E"/>
                </a:solidFill>
              </a:defRPr>
            </a:pPr>
            <a:r>
              <a:rPr sz="1650" b="1">
                <a:solidFill>
                  <a:srgbClr val="1E1E1E"/>
                </a:solidFill>
              </a:rPr>
              <a:t>1</a:t>
            </a:r>
          </a:p>
        </p:txBody>
      </p:sp>
      <p:sp>
        <p:nvSpPr>
          <p:cNvPr id="4" name="plan-1">
            <a:extLst>
              <a:ext uri="{FF2B5EF4-FFF2-40B4-BE49-F238E27FC236}">
                <a16:creationId xmlns:a16="http://schemas.microsoft.com/office/drawing/2014/main" id="{AEA7851C-0E29-4B67-81D8-234F8AD92CCA}"/>
              </a:ext>
            </a:extLst>
          </p:cNvPr>
          <p:cNvSpPr>
            <a:spLocks noGrp="1"/>
          </p:cNvSpPr>
          <p:nvPr/>
        </p:nvSpPr>
        <p:spPr>
          <a:xfrm>
            <a:off x="1283493" y="1462087"/>
            <a:ext cx="67151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1E1E1E"/>
                </a:solidFill>
              </a:defRPr>
            </a:pPr>
            <a:r>
              <a:rPr sz="1725" b="1">
                <a:solidFill>
                  <a:srgbClr val="1E1E1E"/>
                </a:solidFill>
              </a:rPr>
              <a:t>Разработать frontend для покупателя и администратора</a:t>
            </a:r>
          </a:p>
        </p:txBody>
      </p:sp>
      <p:sp>
        <p:nvSpPr>
          <p:cNvPr id="5" name="plan-divider-1">
            <a:extLst>
              <a:ext uri="{FF2B5EF4-FFF2-40B4-BE49-F238E27FC236}">
                <a16:creationId xmlns:a16="http://schemas.microsoft.com/office/drawing/2014/main" id="{03E219FA-8030-44CC-A64C-CDC54B9CC3D7}"/>
              </a:ext>
            </a:extLst>
          </p:cNvPr>
          <p:cNvSpPr>
            <a:spLocks noGrp="1"/>
          </p:cNvSpPr>
          <p:nvPr/>
        </p:nvSpPr>
        <p:spPr>
          <a:xfrm>
            <a:off x="1283493" y="2109787"/>
            <a:ext cx="6715125" cy="19050"/>
          </a:xfrm>
          <a:prstGeom prst="rect">
            <a:avLst/>
          </a:prstGeom>
          <a:solidFill>
            <a:srgbClr val="E6E6E6"/>
          </a:solidFill>
          <a:ln w="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plan-number-2">
            <a:extLst>
              <a:ext uri="{FF2B5EF4-FFF2-40B4-BE49-F238E27FC236}">
                <a16:creationId xmlns:a16="http://schemas.microsoft.com/office/drawing/2014/main" id="{C80BD988-B3AB-4B99-97DC-55E3E6B01F0B}"/>
              </a:ext>
            </a:extLst>
          </p:cNvPr>
          <p:cNvSpPr>
            <a:spLocks noGrp="1"/>
          </p:cNvSpPr>
          <p:nvPr/>
        </p:nvSpPr>
        <p:spPr>
          <a:xfrm>
            <a:off x="569118" y="2357437"/>
            <a:ext cx="438150" cy="438150"/>
          </a:xfrm>
          <a:prstGeom prst="ellipse">
            <a:avLst/>
          </a:prstGeom>
          <a:solidFill>
            <a:srgbClr val="FFD54F"/>
          </a:solidFill>
          <a:ln w="9525">
            <a:solidFill>
              <a:srgbClr val="FF8A00"/>
            </a:solidFill>
            <a:prstDash val="solid"/>
          </a:ln>
        </p:spPr>
        <p:txBody>
          <a:bodyPr anchor="ctr"/>
          <a:lstStyle/>
          <a:p>
            <a:pPr algn="ctr">
              <a:defRPr sz="1650" b="1">
                <a:solidFill>
                  <a:srgbClr val="1E1E1E"/>
                </a:solidFill>
              </a:defRPr>
            </a:pPr>
            <a:r>
              <a:rPr sz="1650" b="1">
                <a:solidFill>
                  <a:srgbClr val="1E1E1E"/>
                </a:solidFill>
              </a:rPr>
              <a:t>2</a:t>
            </a:r>
          </a:p>
        </p:txBody>
      </p:sp>
      <p:sp>
        <p:nvSpPr>
          <p:cNvPr id="7" name="plan-2">
            <a:extLst>
              <a:ext uri="{FF2B5EF4-FFF2-40B4-BE49-F238E27FC236}">
                <a16:creationId xmlns:a16="http://schemas.microsoft.com/office/drawing/2014/main" id="{075497E0-7C6E-4DD3-B5B4-D04886788B25}"/>
              </a:ext>
            </a:extLst>
          </p:cNvPr>
          <p:cNvSpPr>
            <a:spLocks noGrp="1"/>
          </p:cNvSpPr>
          <p:nvPr/>
        </p:nvSpPr>
        <p:spPr>
          <a:xfrm>
            <a:off x="1283493" y="2338387"/>
            <a:ext cx="67151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1E1E1E"/>
                </a:solidFill>
              </a:defRPr>
            </a:pPr>
            <a:r>
              <a:rPr sz="1725" b="1">
                <a:solidFill>
                  <a:srgbClr val="1E1E1E"/>
                </a:solidFill>
              </a:rPr>
              <a:t>Добавить сервис аналитики на основе событий Kafka</a:t>
            </a:r>
          </a:p>
        </p:txBody>
      </p:sp>
      <p:sp>
        <p:nvSpPr>
          <p:cNvPr id="8" name="plan-divider-2">
            <a:extLst>
              <a:ext uri="{FF2B5EF4-FFF2-40B4-BE49-F238E27FC236}">
                <a16:creationId xmlns:a16="http://schemas.microsoft.com/office/drawing/2014/main" id="{701B43FD-8D6A-43D8-B2AF-5BC357932B92}"/>
              </a:ext>
            </a:extLst>
          </p:cNvPr>
          <p:cNvSpPr>
            <a:spLocks noGrp="1"/>
          </p:cNvSpPr>
          <p:nvPr/>
        </p:nvSpPr>
        <p:spPr>
          <a:xfrm>
            <a:off x="1283493" y="2986087"/>
            <a:ext cx="6715125" cy="19050"/>
          </a:xfrm>
          <a:prstGeom prst="rect">
            <a:avLst/>
          </a:prstGeom>
          <a:solidFill>
            <a:srgbClr val="E6E6E6"/>
          </a:solidFill>
          <a:ln w="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plan-number-3">
            <a:extLst>
              <a:ext uri="{FF2B5EF4-FFF2-40B4-BE49-F238E27FC236}">
                <a16:creationId xmlns:a16="http://schemas.microsoft.com/office/drawing/2014/main" id="{574BC9F4-9599-4D06-9DE2-F6B984865BB0}"/>
              </a:ext>
            </a:extLst>
          </p:cNvPr>
          <p:cNvSpPr>
            <a:spLocks noGrp="1"/>
          </p:cNvSpPr>
          <p:nvPr/>
        </p:nvSpPr>
        <p:spPr>
          <a:xfrm>
            <a:off x="569118" y="3233737"/>
            <a:ext cx="438150" cy="438150"/>
          </a:xfrm>
          <a:prstGeom prst="ellipse">
            <a:avLst/>
          </a:prstGeom>
          <a:solidFill>
            <a:srgbClr val="FFD54F"/>
          </a:solidFill>
          <a:ln w="9525">
            <a:solidFill>
              <a:srgbClr val="FF8A00"/>
            </a:solidFill>
            <a:prstDash val="solid"/>
          </a:ln>
        </p:spPr>
        <p:txBody>
          <a:bodyPr anchor="ctr"/>
          <a:lstStyle/>
          <a:p>
            <a:pPr algn="ctr">
              <a:defRPr sz="1650" b="1">
                <a:solidFill>
                  <a:srgbClr val="1E1E1E"/>
                </a:solidFill>
              </a:defRPr>
            </a:pPr>
            <a:r>
              <a:rPr sz="1650" b="1">
                <a:solidFill>
                  <a:srgbClr val="1E1E1E"/>
                </a:solidFill>
              </a:rPr>
              <a:t>3</a:t>
            </a:r>
          </a:p>
        </p:txBody>
      </p:sp>
      <p:sp>
        <p:nvSpPr>
          <p:cNvPr id="10" name="plan-3">
            <a:extLst>
              <a:ext uri="{FF2B5EF4-FFF2-40B4-BE49-F238E27FC236}">
                <a16:creationId xmlns:a16="http://schemas.microsoft.com/office/drawing/2014/main" id="{D1BEF7B1-C414-4B41-8245-2CED142B903D}"/>
              </a:ext>
            </a:extLst>
          </p:cNvPr>
          <p:cNvSpPr>
            <a:spLocks noGrp="1"/>
          </p:cNvSpPr>
          <p:nvPr/>
        </p:nvSpPr>
        <p:spPr>
          <a:xfrm>
            <a:off x="1283493" y="3214687"/>
            <a:ext cx="67151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1E1E1E"/>
                </a:solidFill>
              </a:defRPr>
            </a:pPr>
            <a:r>
              <a:rPr sz="1725" b="1">
                <a:solidFill>
                  <a:srgbClr val="1E1E1E"/>
                </a:solidFill>
              </a:rPr>
              <a:t>Реализовать полный CQRS в Catalog: разделить модели записи и чтения</a:t>
            </a:r>
          </a:p>
        </p:txBody>
      </p:sp>
    </p:spTree>
    <p:extLst>
      <p:ext uri="{BB962C8B-B14F-4D97-AF65-F5344CB8AC3E}">
        <p14:creationId xmlns:p14="http://schemas.microsoft.com/office/powerpoint/2010/main" val="3513817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1">
            <a:extLst>
              <a:ext uri="{FF2B5EF4-FFF2-40B4-BE49-F238E27FC236}">
                <a16:creationId xmlns:a16="http://schemas.microsoft.com/office/drawing/2014/main" id="{C1E6A4F1-8F5F-42FA-B822-4EF130C0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4900"/>
              <a:t>Спасибо за внимание!</a:t>
            </a:r>
            <a:br/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4604972"/>
      </p:ext>
    </p:extLst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588</Words>
  <Application>Microsoft Office PowerPoint</Application>
  <DocSecurity>0</DocSecurity>
  <PresentationFormat>Экран (16:9)</PresentationFormat>
  <Paragraphs>128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19</vt:i4>
      </vt:variant>
    </vt:vector>
  </HeadingPairs>
  <TitlesOfParts>
    <vt:vector size="24" baseType="lpstr">
      <vt:lpstr>Arial</vt:lpstr>
      <vt:lpstr>Roboto</vt:lpstr>
      <vt:lpstr>Courier New</vt:lpstr>
      <vt:lpstr>Светлая тема</vt:lpstr>
      <vt:lpstr>Светлая тема</vt:lpstr>
      <vt:lpstr>Онлайн-магазин
с использованием
микросервисной архитектуры Выпускной проект  </vt:lpstr>
      <vt:lpstr>Меня хорошо видно &amp; слышно?</vt:lpstr>
      <vt:lpstr>Защита проекта Тема: Онлайн-магазин с использованием
микросервисной архитектуры  </vt:lpstr>
      <vt:lpstr>План защиты </vt:lpstr>
      <vt:lpstr>Презентация PowerPoint</vt:lpstr>
      <vt:lpstr>Используемые технологии и паттерны  </vt:lpstr>
      <vt:lpstr>Диаграмма развертывания  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Описание межсервисного взаимодействия   </vt:lpstr>
      <vt:lpstr>Схема мониторинга   </vt:lpstr>
      <vt:lpstr>Сложности и способы их решения</vt:lpstr>
      <vt:lpstr>Презентация PowerPoint</vt:lpstr>
      <vt:lpstr>Презентация PowerPoint</vt:lpstr>
      <vt:lpstr>Спасибо за внимание!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Павел Маслов</cp:lastModifiedBy>
  <cp:revision>2</cp:revision>
  <dcterms:created xsi:type="dcterms:W3CDTF">2026-07-31T09:45:57Z</dcterms:created>
  <dcterms:modified xsi:type="dcterms:W3CDTF">2026-08-05T19:04:49Z</dcterms:modified>
</cp:coreProperties>
</file>